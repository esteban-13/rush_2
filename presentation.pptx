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Manager" id="{6a478184-7fb3-c982-1d19-9af5332c676a}">
          <p14:sldIdLst>
            <p14:sldId id="256"/>
            <p14:sldId id="257"/>
            <p14:sldId id="258"/>
            <p14:sldId id="259"/>
            <p14:sldId id="260"/>
          </p14:sldIdLst>
        </p14:section>
        <p14:section name="2. Pharmacien acheteur" id="{99160b31-9720-426f-413a-936c91a27c39}">
          <p14:sldIdLst>
            <p14:sldId id="261"/>
            <p14:sldId id="262"/>
            <p14:sldId id="263"/>
            <p14:sldId id="264"/>
            <p14:sldId id="265"/>
          </p14:sldIdLst>
        </p14:section>
        <p14:section name="3. Propriétaire" id="{affbdef3-ae7d-abb5-a3e8-bd52ab15da21}">
          <p14:sldIdLst>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A5E"/>
                </a:solidFill>
                <a:latin typeface="+mn-lt"/>
              </a:defRPr>
            </a:pPr>
            <a:r>
              <a:rPr sz="1000" b="0" i="0" u="none" strike="noStrike">
                <a:solidFill>
                  <a:srgbClr val="4A5A5E"/>
                </a:solidFill>
                <a:latin typeface="+mn-lt"/>
              </a:rPr>
              <a:t>Plus grand écart du mois entre le mensuel du client et la somme des jours (%)</a:t>
            </a:r>
          </a:p>
        </c:rich>
      </c:tx>
      <c:layout/>
      <c:overlay val="0"/>
    </c:title>
    <c:autoTitleDeleted val="0"/>
    <c:plotArea>
      <c:layout/>
      <c:barChart>
        <c:barDir val="col"/>
        <c:grouping val="clustered"/>
        <c:varyColors val="0"/>
        <c:ser>
          <c:idx val="0"/>
          <c:order val="0"/>
          <c:tx>
            <c:strRef>
              <c:f>Sheet1!$B$1</c:f>
              <c:strCache>
                <c:ptCount val="1"/>
                <c:pt idx="0">
                  <c:v>Plus grand écart du mois (%)</c:v>
                </c:pt>
              </c:strCache>
            </c:strRef>
          </c:tx>
          <c:spPr>
            <a:solidFill>
              <a:srgbClr val="E8704A"/>
            </a:solidFill>
            <a:effectLst/>
          </c:spPr>
          <c:invertIfNegative val="0"/>
          <c:dLbls>
            <c:numFmt formatCode="#,##0" sourceLinked="0"/>
            <c:txPr>
              <a:bodyPr/>
              <a:lstStyle/>
              <a:p>
                <a:pPr>
                  <a:defRPr b="0" i="0" strike="noStrike" sz="1000" u="none">
                    <a:solidFill>
                      <a:srgbClr val="4A5A5E"/>
                    </a:solidFill>
                    <a:latin typeface="+mn-lt"/>
                  </a:defRPr>
                </a:pPr>
              </a:p>
            </c:txPr>
            <c:showLegendKey val="0"/>
            <c:showVal val="0"/>
            <c:showCatName val="0"/>
            <c:showSerName val="0"/>
            <c:showPercent val="0"/>
            <c:showBubbleSize val="0"/>
            <c:showLeaderLines val="0"/>
          </c:dLbls>
          <c:cat>
            <c:multiLvlStrRef>
              <c:f>Sheet1!$A$2:$A$71</c:f>
              <c:multiLvlStrCache>
                <c:ptCount val="70"/>
                <c:lvl>
                  <c:pt idx="0">
                    <c:v>2014</c:v>
                  </c:pt>
                  <c:pt idx="1">
                    <c:v/>
                  </c:pt>
                  <c:pt idx="2">
                    <c:v/>
                  </c:pt>
                  <c:pt idx="3">
                    <c:v/>
                  </c:pt>
                  <c:pt idx="4">
                    <c:v/>
                  </c:pt>
                  <c:pt idx="5">
                    <c:v/>
                  </c:pt>
                  <c:pt idx="6">
                    <c:v/>
                  </c:pt>
                  <c:pt idx="7">
                    <c:v/>
                  </c:pt>
                  <c:pt idx="8">
                    <c:v/>
                  </c:pt>
                  <c:pt idx="9">
                    <c:v/>
                  </c:pt>
                  <c:pt idx="10">
                    <c:v/>
                  </c:pt>
                  <c:pt idx="11">
                    <c:v/>
                  </c:pt>
                  <c:pt idx="12">
                    <c:v>2015</c:v>
                  </c:pt>
                  <c:pt idx="13">
                    <c:v/>
                  </c:pt>
                  <c:pt idx="14">
                    <c:v/>
                  </c:pt>
                  <c:pt idx="15">
                    <c:v/>
                  </c:pt>
                  <c:pt idx="16">
                    <c:v/>
                  </c:pt>
                  <c:pt idx="17">
                    <c:v/>
                  </c:pt>
                  <c:pt idx="18">
                    <c:v/>
                  </c:pt>
                  <c:pt idx="19">
                    <c:v/>
                  </c:pt>
                  <c:pt idx="20">
                    <c:v/>
                  </c:pt>
                  <c:pt idx="21">
                    <c:v/>
                  </c:pt>
                  <c:pt idx="22">
                    <c:v/>
                  </c:pt>
                  <c:pt idx="23">
                    <c:v/>
                  </c:pt>
                  <c:pt idx="24">
                    <c:v>2016</c:v>
                  </c:pt>
                  <c:pt idx="25">
                    <c:v/>
                  </c:pt>
                  <c:pt idx="26">
                    <c:v/>
                  </c:pt>
                  <c:pt idx="27">
                    <c:v/>
                  </c:pt>
                  <c:pt idx="28">
                    <c:v/>
                  </c:pt>
                  <c:pt idx="29">
                    <c:v/>
                  </c:pt>
                  <c:pt idx="30">
                    <c:v/>
                  </c:pt>
                  <c:pt idx="31">
                    <c:v/>
                  </c:pt>
                  <c:pt idx="32">
                    <c:v/>
                  </c:pt>
                  <c:pt idx="33">
                    <c:v/>
                  </c:pt>
                  <c:pt idx="34">
                    <c:v/>
                  </c:pt>
                  <c:pt idx="35">
                    <c:v/>
                  </c:pt>
                  <c:pt idx="36">
                    <c:v>2017</c:v>
                  </c:pt>
                  <c:pt idx="37">
                    <c:v/>
                  </c:pt>
                  <c:pt idx="38">
                    <c:v/>
                  </c:pt>
                  <c:pt idx="39">
                    <c:v/>
                  </c:pt>
                  <c:pt idx="40">
                    <c:v/>
                  </c:pt>
                  <c:pt idx="41">
                    <c:v/>
                  </c:pt>
                  <c:pt idx="42">
                    <c:v/>
                  </c:pt>
                  <c:pt idx="43">
                    <c:v/>
                  </c:pt>
                  <c:pt idx="44">
                    <c:v/>
                  </c:pt>
                  <c:pt idx="45">
                    <c:v/>
                  </c:pt>
                  <c:pt idx="46">
                    <c:v/>
                  </c:pt>
                  <c:pt idx="47">
                    <c:v/>
                  </c:pt>
                  <c:pt idx="48">
                    <c:v>2018</c:v>
                  </c:pt>
                  <c:pt idx="49">
                    <c:v/>
                  </c:pt>
                  <c:pt idx="50">
                    <c:v/>
                  </c:pt>
                  <c:pt idx="51">
                    <c:v/>
                  </c:pt>
                  <c:pt idx="52">
                    <c:v/>
                  </c:pt>
                  <c:pt idx="53">
                    <c:v/>
                  </c:pt>
                  <c:pt idx="54">
                    <c:v/>
                  </c:pt>
                  <c:pt idx="55">
                    <c:v/>
                  </c:pt>
                  <c:pt idx="56">
                    <c:v/>
                  </c:pt>
                  <c:pt idx="57">
                    <c:v/>
                  </c:pt>
                  <c:pt idx="58">
                    <c:v/>
                  </c:pt>
                  <c:pt idx="59">
                    <c:v/>
                  </c:pt>
                  <c:pt idx="60">
                    <c:v>2019</c:v>
                  </c:pt>
                  <c:pt idx="61">
                    <c:v/>
                  </c:pt>
                  <c:pt idx="62">
                    <c:v/>
                  </c:pt>
                  <c:pt idx="63">
                    <c:v/>
                  </c:pt>
                  <c:pt idx="64">
                    <c:v/>
                  </c:pt>
                  <c:pt idx="65">
                    <c:v/>
                  </c:pt>
                  <c:pt idx="66">
                    <c:v/>
                  </c:pt>
                  <c:pt idx="67">
                    <c:v/>
                  </c:pt>
                  <c:pt idx="68">
                    <c:v/>
                  </c:pt>
                  <c:pt idx="69">
                    <c:v/>
                  </c:pt>
                </c:lvl>
              </c:multiLvlStrCache>
            </c:multiLvlStrRef>
          </c:cat>
          <c:val>
            <c:numRef>
              <c:f>Sheet1!$B$2:$B$71</c:f>
              <c:numCache>
                <c:formatCode>General</c:formatCode>
                <c:ptCount val="70"/>
                <c:pt idx="0">
                  <c:v>66.7</c:v>
                </c:pt>
                <c:pt idx="1">
                  <c:v>0</c:v>
                </c:pt>
                <c:pt idx="2">
                  <c:v>0</c:v>
                </c:pt>
                <c:pt idx="3">
                  <c:v>4.5</c:v>
                </c:pt>
                <c:pt idx="4">
                  <c:v>0</c:v>
                </c:pt>
                <c:pt idx="5">
                  <c:v>0</c:v>
                </c:pt>
                <c:pt idx="6">
                  <c:v>0</c:v>
                </c:pt>
                <c:pt idx="7">
                  <c:v>8</c:v>
                </c:pt>
                <c:pt idx="8">
                  <c:v>8.9</c:v>
                </c:pt>
                <c:pt idx="9">
                  <c:v>74.9</c:v>
                </c:pt>
                <c:pt idx="10">
                  <c:v>0</c:v>
                </c:pt>
                <c:pt idx="11">
                  <c:v>0</c:v>
                </c:pt>
                <c:pt idx="12">
                  <c:v>0</c:v>
                </c:pt>
                <c:pt idx="13">
                  <c:v>0</c:v>
                </c:pt>
                <c:pt idx="14">
                  <c:v>14.7</c:v>
                </c:pt>
                <c:pt idx="15">
                  <c:v>0</c:v>
                </c:pt>
                <c:pt idx="16">
                  <c:v>0</c:v>
                </c:pt>
                <c:pt idx="17">
                  <c:v>4.4</c:v>
                </c:pt>
                <c:pt idx="18">
                  <c:v>0</c:v>
                </c:pt>
                <c:pt idx="19">
                  <c:v>0</c:v>
                </c:pt>
                <c:pt idx="20">
                  <c:v>0</c:v>
                </c:pt>
                <c:pt idx="21">
                  <c:v>0</c:v>
                </c:pt>
                <c:pt idx="22">
                  <c:v>18.2</c:v>
                </c:pt>
                <c:pt idx="23">
                  <c:v>0</c:v>
                </c:pt>
                <c:pt idx="24">
                  <c:v>0</c:v>
                </c:pt>
                <c:pt idx="25">
                  <c:v>0</c:v>
                </c:pt>
                <c:pt idx="26">
                  <c:v>9.1</c:v>
                </c:pt>
                <c:pt idx="27">
                  <c:v>8.9</c:v>
                </c:pt>
                <c:pt idx="28">
                  <c:v>7.7</c:v>
                </c:pt>
                <c:pt idx="29">
                  <c:v>10.9</c:v>
                </c:pt>
                <c:pt idx="30">
                  <c:v>4.9</c:v>
                </c:pt>
                <c:pt idx="31">
                  <c:v>9.7</c:v>
                </c:pt>
                <c:pt idx="32">
                  <c:v>0</c:v>
                </c:pt>
                <c:pt idx="33">
                  <c:v>7.3</c:v>
                </c:pt>
                <c:pt idx="34">
                  <c:v>5.1</c:v>
                </c:pt>
                <c:pt idx="35">
                  <c:v>13.2</c:v>
                </c:pt>
                <c:pt idx="36">
                  <c:v>0</c:v>
                </c:pt>
                <c:pt idx="37">
                  <c:v>0</c:v>
                </c:pt>
                <c:pt idx="38">
                  <c:v>27.5</c:v>
                </c:pt>
                <c:pt idx="39">
                  <c:v>15</c:v>
                </c:pt>
                <c:pt idx="40">
                  <c:v>0</c:v>
                </c:pt>
                <c:pt idx="41">
                  <c:v>20.1</c:v>
                </c:pt>
                <c:pt idx="42">
                  <c:v>6.2</c:v>
                </c:pt>
                <c:pt idx="43">
                  <c:v>0</c:v>
                </c:pt>
                <c:pt idx="44">
                  <c:v>0</c:v>
                </c:pt>
                <c:pt idx="45">
                  <c:v>0</c:v>
                </c:pt>
                <c:pt idx="46">
                  <c:v>0</c:v>
                </c:pt>
                <c:pt idx="47">
                  <c:v>0</c:v>
                </c:pt>
                <c:pt idx="48">
                  <c:v>0</c:v>
                </c:pt>
                <c:pt idx="49">
                  <c:v>12.8</c:v>
                </c:pt>
                <c:pt idx="50">
                  <c:v>0</c:v>
                </c:pt>
                <c:pt idx="51">
                  <c:v>46.7</c:v>
                </c:pt>
                <c:pt idx="52">
                  <c:v>15</c:v>
                </c:pt>
                <c:pt idx="53">
                  <c:v>0</c:v>
                </c:pt>
                <c:pt idx="54">
                  <c:v>0</c:v>
                </c:pt>
                <c:pt idx="55">
                  <c:v>0</c:v>
                </c:pt>
                <c:pt idx="56">
                  <c:v>0</c:v>
                </c:pt>
                <c:pt idx="57">
                  <c:v>8</c:v>
                </c:pt>
                <c:pt idx="58">
                  <c:v>0</c:v>
                </c:pt>
                <c:pt idx="59">
                  <c:v>7.5</c:v>
                </c:pt>
                <c:pt idx="60">
                  <c:v>15.8</c:v>
                </c:pt>
                <c:pt idx="61">
                  <c:v>0</c:v>
                </c:pt>
                <c:pt idx="62">
                  <c:v>0</c:v>
                </c:pt>
                <c:pt idx="63">
                  <c:v>17.7</c:v>
                </c:pt>
                <c:pt idx="64">
                  <c:v>7.9</c:v>
                </c:pt>
                <c:pt idx="65">
                  <c:v>0</c:v>
                </c:pt>
                <c:pt idx="66">
                  <c:v>4.7</c:v>
                </c:pt>
                <c:pt idx="67">
                  <c:v>0</c:v>
                </c:pt>
                <c:pt idx="68">
                  <c:v>32.6</c:v>
                </c:pt>
                <c:pt idx="69">
                  <c:v>0</c:v>
                </c:pt>
              </c:numCache>
            </c:numRef>
          </c:val>
        </c:ser>
        <c:dLbls>
          <c:numFmt formatCode="#,##0" sourceLinked="0"/>
          <c:txPr>
            <a:bodyPr/>
            <a:lstStyle/>
            <a:p>
              <a:pPr>
                <a:defRPr b="0" i="0" strike="noStrike" sz="1000" u="none">
                  <a:solidFill>
                    <a:srgbClr val="4A5A5E"/>
                  </a:solidFill>
                  <a:latin typeface="+mn-lt"/>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A5E"/>
                </a:solidFill>
                <a:latin typeface="+mn-lt"/>
              </a:defRPr>
            </a:pPr>
            <a:endParaRPr lang="en-US"/>
          </a:p>
        </c:txPr>
        <c:crossAx val="2094734552"/>
        <c:crosses val="autoZero"/>
        <c:auto val="1"/>
        <c:lblAlgn val="ctr"/>
        <c:noMultiLvlLbl val="1"/>
      </c:catAx>
      <c:valAx>
        <c:axId val="2094734552"/>
        <c:scaling>
          <c:orientation val="minMax"/>
          <c:max val="80"/>
        </c:scaling>
        <c:delete val="0"/>
        <c:axPos val="l"/>
        <c:majorGridlines>
          <c:spPr>
            <a:ln w="6350" cap="flat">
              <a:solidFill>
                <a:srgbClr val="DCE5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A5E"/>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A5E"/>
                </a:solidFill>
                <a:latin typeface="+mn-lt"/>
              </a:defRPr>
            </a:pPr>
            <a:r>
              <a:rPr sz="1000" b="0" i="0" u="none" strike="noStrike">
                <a:solidFill>
                  <a:srgbClr val="4A5A5E"/>
                </a:solidFill>
                <a:latin typeface="+mn-lt"/>
              </a:rPr>
              <a:t>Erreur du modèle divisée par l'erreur de la prévision naïve (24 mois de test)</a:t>
            </a:r>
          </a:p>
        </c:rich>
      </c:tx>
      <c:layout/>
      <c:overlay val="0"/>
    </c:title>
    <c:autoTitleDeleted val="0"/>
    <c:plotArea>
      <c:layout/>
      <c:barChart>
        <c:barDir val="bar"/>
        <c:grouping val="clustered"/>
        <c:varyColors val="0"/>
        <c:ser>
          <c:idx val="0"/>
          <c:order val="0"/>
          <c:tx>
            <c:strRef>
              <c:f>Sheet1!$B$1</c:f>
              <c:strCache>
                <c:ptCount val="1"/>
                <c:pt idx="0">
                  <c:v>Erreur du modèle / erreur de la référence naïve</c:v>
                </c:pt>
              </c:strCache>
            </c:strRef>
          </c:tx>
          <c:spPr>
            <a:solidFill>
              <a:srgbClr val="2FA58A"/>
            </a:solidFill>
            <a:effectLst/>
          </c:spPr>
          <c:invertIfNegative val="0"/>
          <c:dLbls>
            <c:numFmt formatCode="0.00" sourceLinked="0"/>
            <c:txPr>
              <a:bodyPr/>
              <a:lstStyle/>
              <a:p>
                <a:pPr>
                  <a:defRPr b="0" i="0" strike="noStrike" sz="1000" u="none">
                    <a:solidFill>
                      <a:srgbClr val="4A5A5E"/>
                    </a:solidFill>
                    <a:latin typeface="+mn-lt"/>
                  </a:defRPr>
                </a:pPr>
              </a:p>
            </c:txPr>
            <c:showLegendKey val="0"/>
            <c:showVal val="1"/>
            <c:showCatName val="0"/>
            <c:showSerName val="0"/>
            <c:showPercent val="0"/>
            <c:showBubbleSize val="0"/>
            <c:showLeaderLines val="0"/>
          </c:dLbls>
          <c:dPt>
            <c:idx val="0"/>
            <c:invertIfNegative val="0"/>
            <c:bubble3D val="0"/>
            <c:spPr>
              <a:solidFill>
                <a:srgbClr val="2FA58A"/>
              </a:solidFill>
              <a:effectLst/>
            </c:spPr>
          </c:dPt>
          <c:dPt>
            <c:idx val="1"/>
            <c:invertIfNegative val="0"/>
            <c:bubble3D val="0"/>
            <c:spPr>
              <a:solidFill>
                <a:srgbClr val="2FA58A"/>
              </a:solidFill>
              <a:effectLst/>
            </c:spPr>
          </c:dPt>
          <c:dPt>
            <c:idx val="2"/>
            <c:invertIfNegative val="0"/>
            <c:bubble3D val="0"/>
            <c:spPr>
              <a:solidFill>
                <a:srgbClr val="A9BCB6"/>
              </a:solidFill>
              <a:effectLst/>
            </c:spPr>
          </c:dPt>
          <c:dPt>
            <c:idx val="3"/>
            <c:invertIfNegative val="0"/>
            <c:bubble3D val="0"/>
            <c:spPr>
              <a:solidFill>
                <a:srgbClr val="A9BCB6"/>
              </a:solidFill>
              <a:effectLst/>
            </c:spPr>
          </c:dPt>
          <c:dPt>
            <c:idx val="4"/>
            <c:invertIfNegative val="0"/>
            <c:bubble3D val="0"/>
            <c:spPr>
              <a:solidFill>
                <a:srgbClr val="A9BCB6"/>
              </a:solidFill>
              <a:effectLst/>
            </c:spPr>
          </c:dPt>
          <c:dPt>
            <c:idx val="5"/>
            <c:invertIfNegative val="0"/>
            <c:bubble3D val="0"/>
            <c:spPr>
              <a:solidFill>
                <a:srgbClr val="A9BCB6"/>
              </a:solidFill>
              <a:effectLst/>
            </c:spPr>
          </c:dPt>
          <c:dPt>
            <c:idx val="6"/>
            <c:invertIfNegative val="0"/>
            <c:bubble3D val="0"/>
            <c:spPr>
              <a:solidFill>
                <a:srgbClr val="A9BCB6"/>
              </a:solidFill>
              <a:effectLst/>
            </c:spPr>
          </c:dPt>
          <c:dPt>
            <c:idx val="7"/>
            <c:invertIfNegative val="0"/>
            <c:bubble3D val="0"/>
            <c:spPr>
              <a:solidFill>
                <a:srgbClr val="A9BCB6"/>
              </a:solidFill>
              <a:effectLst/>
            </c:spPr>
          </c:dPt>
          <c:cat>
            <c:multiLvlStrRef>
              <c:f>Sheet1!$A$2:$A$9</c:f>
              <c:multiLvlStrCache>
                <c:ptCount val="8"/>
                <c:lvl>
                  <c:pt idx="0">
                    <c:v>Paracétamol</c:v>
                  </c:pt>
                  <c:pt idx="1">
                    <c:v>Antihistaminiques</c:v>
                  </c:pt>
                  <c:pt idx="2">
                    <c:v>AINS acétiques</c:v>
                  </c:pt>
                  <c:pt idx="3">
                    <c:v>AINS propioniques</c:v>
                  </c:pt>
                  <c:pt idx="4">
                    <c:v>Somnifères</c:v>
                  </c:pt>
                  <c:pt idx="5">
                    <c:v>Antiasthmatiques</c:v>
                  </c:pt>
                  <c:pt idx="6">
                    <c:v>Aspirine et dérivés</c:v>
                  </c:pt>
                  <c:pt idx="7">
                    <c:v>Anxiolytiques</c:v>
                  </c:pt>
                </c:lvl>
              </c:multiLvlStrCache>
            </c:multiLvlStrRef>
          </c:cat>
          <c:val>
            <c:numRef>
              <c:f>Sheet1!$B$2:$B$9</c:f>
              <c:numCache>
                <c:formatCode>General</c:formatCode>
                <c:ptCount val="8"/>
                <c:pt idx="0">
                  <c:v>0.65</c:v>
                </c:pt>
                <c:pt idx="1">
                  <c:v>0.79</c:v>
                </c:pt>
                <c:pt idx="2">
                  <c:v>0.86</c:v>
                </c:pt>
                <c:pt idx="3">
                  <c:v>1.01</c:v>
                </c:pt>
                <c:pt idx="4">
                  <c:v>1.02</c:v>
                </c:pt>
                <c:pt idx="5">
                  <c:v>1.04</c:v>
                </c:pt>
                <c:pt idx="6">
                  <c:v>1.11</c:v>
                </c:pt>
                <c:pt idx="7">
                  <c:v>1.46</c:v>
                </c:pt>
              </c:numCache>
            </c:numRef>
          </c:val>
        </c:ser>
        <c:dLbls>
          <c:numFmt formatCode="0.00" sourceLinked="0"/>
          <c:txPr>
            <a:bodyPr/>
            <a:lstStyle/>
            <a:p>
              <a:pPr>
                <a:defRPr b="0" i="0" strike="noStrike" sz="1000" u="none">
                  <a:solidFill>
                    <a:srgbClr val="4A5A5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A5E"/>
                </a:solidFill>
                <a:latin typeface="+mn-lt"/>
              </a:defRPr>
            </a:pPr>
            <a:endParaRPr lang="en-US"/>
          </a:p>
        </c:txPr>
        <c:crossAx val="2094734552"/>
        <c:crosses val="autoZero"/>
        <c:auto val="1"/>
        <c:lblAlgn val="ctr"/>
        <c:noMultiLvlLbl val="1"/>
      </c:catAx>
      <c:valAx>
        <c:axId val="2094734552"/>
        <c:scaling>
          <c:orientation val="minMax"/>
          <c:max val="1.7"/>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5A5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A5E"/>
                </a:solidFill>
                <a:latin typeface="+mn-lt"/>
              </a:defRPr>
            </a:pPr>
            <a:r>
              <a:rPr sz="1000" b="0" i="0" u="none" strike="noStrike">
                <a:solidFill>
                  <a:srgbClr val="4A5A5E"/>
                </a:solidFill>
                <a:latin typeface="+mn-lt"/>
              </a:rPr>
              <a:t>Indice de vente par jour (100 = jour moyen du groupe)</a:t>
            </a:r>
          </a:p>
        </c:rich>
      </c:tx>
      <c:layout/>
      <c:overlay val="0"/>
    </c:title>
    <c:autoTitleDeleted val="0"/>
    <c:plotArea>
      <c:layout/>
      <c:barChart>
        <c:barDir val="col"/>
        <c:grouping val="clustered"/>
        <c:varyColors val="0"/>
        <c:ser>
          <c:idx val="0"/>
          <c:order val="0"/>
          <c:tx>
            <c:strRef>
              <c:f>Sheet1!$B$1</c:f>
              <c:strCache>
                <c:ptCount val="1"/>
                <c:pt idx="0">
                  <c:v>Anxiolytiques</c:v>
                </c:pt>
              </c:strCache>
            </c:strRef>
          </c:tx>
          <c:spPr>
            <a:solidFill>
              <a:srgbClr val="5B7C99"/>
            </a:solidFill>
            <a:effectLst/>
          </c:spPr>
          <c:invertIfNegative val="0"/>
          <c:dLbls>
            <c:numFmt formatCode="#,##0" sourceLinked="0"/>
            <c:txPr>
              <a:bodyPr/>
              <a:lstStyle/>
              <a:p>
                <a:pPr>
                  <a:defRPr b="0" i="0" strike="noStrike" sz="1000" u="none">
                    <a:solidFill>
                      <a:srgbClr val="4A5A5E"/>
                    </a:solidFill>
                    <a:latin typeface="+mn-lt"/>
                  </a:defRPr>
                </a:pPr>
              </a:p>
            </c:txPr>
            <c:showLegendKey val="0"/>
            <c:showVal val="0"/>
            <c:showCatName val="0"/>
            <c:showSerName val="0"/>
            <c:showPercent val="0"/>
            <c:showBubbleSize val="0"/>
            <c:showLeaderLines val="0"/>
          </c:dLbls>
          <c:cat>
            <c:multiLvlStrRef>
              <c:f>Sheet1!$A$2:$A$8</c:f>
              <c:multiLvlStrCache>
                <c:ptCount val="7"/>
                <c:lvl>
                  <c:pt idx="0">
                    <c:v>Lun.</c:v>
                  </c:pt>
                  <c:pt idx="1">
                    <c:v>Mar.</c:v>
                  </c:pt>
                  <c:pt idx="2">
                    <c:v>Mer.</c:v>
                  </c:pt>
                  <c:pt idx="3">
                    <c:v>Jeu.</c:v>
                  </c:pt>
                  <c:pt idx="4">
                    <c:v>Ven.</c:v>
                  </c:pt>
                  <c:pt idx="5">
                    <c:v>Sam.</c:v>
                  </c:pt>
                  <c:pt idx="6">
                    <c:v>Dim.</c:v>
                  </c:pt>
                </c:lvl>
              </c:multiLvlStrCache>
            </c:multiLvlStrRef>
          </c:cat>
          <c:val>
            <c:numRef>
              <c:f>Sheet1!$B$2:$B$8</c:f>
              <c:numCache>
                <c:formatCode>General</c:formatCode>
                <c:ptCount val="7"/>
                <c:pt idx="0">
                  <c:v>105</c:v>
                </c:pt>
                <c:pt idx="1">
                  <c:v>108</c:v>
                </c:pt>
                <c:pt idx="2">
                  <c:v>114</c:v>
                </c:pt>
                <c:pt idx="3">
                  <c:v>99</c:v>
                </c:pt>
                <c:pt idx="4">
                  <c:v>112</c:v>
                </c:pt>
                <c:pt idx="5">
                  <c:v>97</c:v>
                </c:pt>
                <c:pt idx="6">
                  <c:v>65</c:v>
                </c:pt>
              </c:numCache>
            </c:numRef>
          </c:val>
        </c:ser>
        <c:ser>
          <c:idx val="1"/>
          <c:order val="1"/>
          <c:tx>
            <c:strRef>
              <c:f>Sheet1!$C$1</c:f>
              <c:strCache>
                <c:ptCount val="1"/>
                <c:pt idx="0">
                  <c:v>Paracétamol</c:v>
                </c:pt>
              </c:strCache>
            </c:strRef>
          </c:tx>
          <c:spPr>
            <a:solidFill>
              <a:srgbClr val="E8704A"/>
            </a:solidFill>
            <a:effectLst/>
          </c:spPr>
          <c:invertIfNegative val="0"/>
          <c:dLbls>
            <c:numFmt formatCode="#,##0" sourceLinked="0"/>
            <c:txPr>
              <a:bodyPr/>
              <a:lstStyle/>
              <a:p>
                <a:pPr>
                  <a:defRPr b="0" i="0" strike="noStrike" sz="1000" u="none">
                    <a:solidFill>
                      <a:srgbClr val="4A5A5E"/>
                    </a:solidFill>
                    <a:latin typeface="+mn-lt"/>
                  </a:defRPr>
                </a:pPr>
              </a:p>
            </c:txPr>
            <c:showLegendKey val="0"/>
            <c:showVal val="0"/>
            <c:showCatName val="0"/>
            <c:showSerName val="0"/>
            <c:showPercent val="0"/>
            <c:showBubbleSize val="0"/>
            <c:showLeaderLines val="0"/>
          </c:dLbls>
          <c:cat>
            <c:multiLvlStrRef>
              <c:f>Sheet1!$A$2:$A$8</c:f>
              <c:multiLvlStrCache>
                <c:ptCount val="7"/>
                <c:lvl>
                  <c:pt idx="0">
                    <c:v>Lun.</c:v>
                  </c:pt>
                  <c:pt idx="1">
                    <c:v>Mar.</c:v>
                  </c:pt>
                  <c:pt idx="2">
                    <c:v>Mer.</c:v>
                  </c:pt>
                  <c:pt idx="3">
                    <c:v>Jeu.</c:v>
                  </c:pt>
                  <c:pt idx="4">
                    <c:v>Ven.</c:v>
                  </c:pt>
                  <c:pt idx="5">
                    <c:v>Sam.</c:v>
                  </c:pt>
                  <c:pt idx="6">
                    <c:v>Dim.</c:v>
                  </c:pt>
                </c:lvl>
              </c:multiLvlStrCache>
            </c:multiLvlStrRef>
          </c:cat>
          <c:val>
            <c:numRef>
              <c:f>Sheet1!$C$2:$C$8</c:f>
              <c:numCache>
                <c:formatCode>General</c:formatCode>
                <c:ptCount val="7"/>
                <c:pt idx="0">
                  <c:v>98</c:v>
                </c:pt>
                <c:pt idx="1">
                  <c:v>94</c:v>
                </c:pt>
                <c:pt idx="2">
                  <c:v>93</c:v>
                </c:pt>
                <c:pt idx="3">
                  <c:v>94</c:v>
                </c:pt>
                <c:pt idx="4">
                  <c:v>96</c:v>
                </c:pt>
                <c:pt idx="5">
                  <c:v>112</c:v>
                </c:pt>
                <c:pt idx="6">
                  <c:v>114</c:v>
                </c:pt>
              </c:numCache>
            </c:numRef>
          </c:val>
        </c:ser>
        <c:dLbls>
          <c:numFmt formatCode="#,##0" sourceLinked="0"/>
          <c:txPr>
            <a:bodyPr/>
            <a:lstStyle/>
            <a:p>
              <a:pPr>
                <a:defRPr b="0" i="0" strike="noStrike" sz="1000" u="none">
                  <a:solidFill>
                    <a:srgbClr val="4A5A5E"/>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A5E"/>
                </a:solidFill>
                <a:latin typeface="+mn-lt"/>
              </a:defRPr>
            </a:pPr>
            <a:endParaRPr lang="en-US"/>
          </a:p>
        </c:txPr>
        <c:crossAx val="2094734552"/>
        <c:crosses val="autoZero"/>
        <c:auto val="1"/>
        <c:lblAlgn val="ctr"/>
        <c:noMultiLvlLbl val="1"/>
      </c:catAx>
      <c:valAx>
        <c:axId val="2094734552"/>
        <c:scaling>
          <c:orientation val="minMax"/>
          <c:max val="130"/>
          <c:min val="40"/>
        </c:scaling>
        <c:delete val="0"/>
        <c:axPos val="l"/>
        <c:majorGridlines>
          <c:spPr>
            <a:ln w="6350" cap="flat">
              <a:solidFill>
                <a:srgbClr val="DCE5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A5E"/>
                </a:solidFill>
                <a:latin typeface="+mn-lt"/>
              </a:defRPr>
            </a:pPr>
            <a:endParaRPr lang="en-US"/>
          </a:p>
        </c:txPr>
        <c:crossAx val="2094734554"/>
        <c:crosses val="autoZero"/>
        <c:crossBetween val="between"/>
        <c:majorUnit val="30"/>
      </c:valAx>
      <c:spPr>
        <a:noFill/>
        <a:ln>
          <a:noFill/>
        </a:ln>
        <a:effectLst/>
      </c:spPr>
    </c:plotArea>
    <c:legend>
      <c:legendPos val="b"/>
      <c:overlay val="0"/>
      <c:txPr>
        <a:bodyPr/>
        <a:lstStyle/>
        <a:p>
          <a:pPr>
            <a:defRPr sz="1000">
              <a:solidFill>
                <a:srgbClr val="4A5A5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A5E"/>
                </a:solidFill>
                <a:latin typeface="+mn-lt"/>
              </a:defRPr>
            </a:pPr>
            <a:r>
              <a:rPr sz="1000" b="0" i="0" u="none" strike="noStrike">
                <a:solidFill>
                  <a:srgbClr val="4A5A5E"/>
                </a:solidFill>
                <a:latin typeface="+mn-lt"/>
              </a:rPr>
              <a:t>Part de chaque heure dans les ventes de la journée (%, moyenne des huit groupes)</a:t>
            </a:r>
          </a:p>
        </c:rich>
      </c:tx>
      <c:layout/>
      <c:overlay val="0"/>
    </c:title>
    <c:autoTitleDeleted val="0"/>
    <c:plotArea>
      <c:layout/>
      <c:barChart>
        <c:barDir val="col"/>
        <c:grouping val="clustered"/>
        <c:varyColors val="0"/>
        <c:ser>
          <c:idx val="0"/>
          <c:order val="0"/>
          <c:tx>
            <c:strRef>
              <c:f>Sheet1!$B$1</c:f>
              <c:strCache>
                <c:ptCount val="1"/>
                <c:pt idx="0">
                  <c:v>Part des ventes (%)</c:v>
                </c:pt>
              </c:strCache>
            </c:strRef>
          </c:tx>
          <c:spPr>
            <a:solidFill>
              <a:srgbClr val="A9BCB6"/>
            </a:solidFill>
            <a:effectLst/>
          </c:spPr>
          <c:invertIfNegative val="0"/>
          <c:dLbls>
            <c:numFmt formatCode="#,##0" sourceLinked="0"/>
            <c:txPr>
              <a:bodyPr/>
              <a:lstStyle/>
              <a:p>
                <a:pPr>
                  <a:defRPr b="0" i="0" strike="noStrike" sz="1000" u="none">
                    <a:solidFill>
                      <a:srgbClr val="4A5A5E"/>
                    </a:solidFill>
                    <a:latin typeface="+mn-lt"/>
                  </a:defRPr>
                </a:pPr>
              </a:p>
            </c:txPr>
            <c:showLegendKey val="0"/>
            <c:showVal val="0"/>
            <c:showCatName val="0"/>
            <c:showSerName val="0"/>
            <c:showPercent val="0"/>
            <c:showBubbleSize val="0"/>
            <c:showLeaderLines val="0"/>
          </c:dLbls>
          <c:dPt>
            <c:idx val="0"/>
            <c:invertIfNegative val="0"/>
            <c:bubble3D val="0"/>
            <c:spPr>
              <a:solidFill>
                <a:srgbClr val="A9BCB6"/>
              </a:solidFill>
              <a:effectLst/>
            </c:spPr>
          </c:dPt>
          <c:dPt>
            <c:idx val="1"/>
            <c:invertIfNegative val="0"/>
            <c:bubble3D val="0"/>
            <c:spPr>
              <a:solidFill>
                <a:srgbClr val="A9BCB6"/>
              </a:solidFill>
              <a:effectLst/>
            </c:spPr>
          </c:dPt>
          <c:dPt>
            <c:idx val="2"/>
            <c:invertIfNegative val="0"/>
            <c:bubble3D val="0"/>
            <c:spPr>
              <a:solidFill>
                <a:srgbClr val="A9BCB6"/>
              </a:solidFill>
              <a:effectLst/>
            </c:spPr>
          </c:dPt>
          <c:dPt>
            <c:idx val="3"/>
            <c:invertIfNegative val="0"/>
            <c:bubble3D val="0"/>
            <c:spPr>
              <a:solidFill>
                <a:srgbClr val="E8704A"/>
              </a:solidFill>
              <a:effectLst/>
            </c:spPr>
          </c:dPt>
          <c:dPt>
            <c:idx val="4"/>
            <c:invertIfNegative val="0"/>
            <c:bubble3D val="0"/>
            <c:spPr>
              <a:solidFill>
                <a:srgbClr val="E8704A"/>
              </a:solidFill>
              <a:effectLst/>
            </c:spPr>
          </c:dPt>
          <c:dPt>
            <c:idx val="5"/>
            <c:invertIfNegative val="0"/>
            <c:bubble3D val="0"/>
            <c:spPr>
              <a:solidFill>
                <a:srgbClr val="E8704A"/>
              </a:solidFill>
              <a:effectLst/>
            </c:spPr>
          </c:dPt>
          <c:dPt>
            <c:idx val="6"/>
            <c:invertIfNegative val="0"/>
            <c:bubble3D val="0"/>
            <c:spPr>
              <a:solidFill>
                <a:srgbClr val="E8704A"/>
              </a:solidFill>
              <a:effectLst/>
            </c:spPr>
          </c:dPt>
          <c:dPt>
            <c:idx val="7"/>
            <c:invertIfNegative val="0"/>
            <c:bubble3D val="0"/>
            <c:spPr>
              <a:solidFill>
                <a:srgbClr val="A9BCB6"/>
              </a:solidFill>
              <a:effectLst/>
            </c:spPr>
          </c:dPt>
          <c:dPt>
            <c:idx val="8"/>
            <c:invertIfNegative val="0"/>
            <c:bubble3D val="0"/>
            <c:spPr>
              <a:solidFill>
                <a:srgbClr val="A9BCB6"/>
              </a:solidFill>
              <a:effectLst/>
            </c:spPr>
          </c:dPt>
          <c:dPt>
            <c:idx val="9"/>
            <c:invertIfNegative val="0"/>
            <c:bubble3D val="0"/>
            <c:spPr>
              <a:solidFill>
                <a:srgbClr val="A9BCB6"/>
              </a:solidFill>
              <a:effectLst/>
            </c:spPr>
          </c:dPt>
          <c:dPt>
            <c:idx val="10"/>
            <c:invertIfNegative val="0"/>
            <c:bubble3D val="0"/>
            <c:spPr>
              <a:solidFill>
                <a:srgbClr val="A9BCB6"/>
              </a:solidFill>
              <a:effectLst/>
            </c:spPr>
          </c:dPt>
          <c:dPt>
            <c:idx val="11"/>
            <c:invertIfNegative val="0"/>
            <c:bubble3D val="0"/>
            <c:spPr>
              <a:solidFill>
                <a:srgbClr val="E8704A"/>
              </a:solidFill>
              <a:effectLst/>
            </c:spPr>
          </c:dPt>
          <c:dPt>
            <c:idx val="12"/>
            <c:invertIfNegative val="0"/>
            <c:bubble3D val="0"/>
            <c:spPr>
              <a:solidFill>
                <a:srgbClr val="E8704A"/>
              </a:solidFill>
              <a:effectLst/>
            </c:spPr>
          </c:dPt>
          <c:dPt>
            <c:idx val="13"/>
            <c:invertIfNegative val="0"/>
            <c:bubble3D val="0"/>
            <c:spPr>
              <a:solidFill>
                <a:srgbClr val="E8704A"/>
              </a:solidFill>
              <a:effectLst/>
            </c:spPr>
          </c:dPt>
          <c:dPt>
            <c:idx val="14"/>
            <c:invertIfNegative val="0"/>
            <c:bubble3D val="0"/>
            <c:spPr>
              <a:solidFill>
                <a:srgbClr val="A9BCB6"/>
              </a:solidFill>
              <a:effectLst/>
            </c:spPr>
          </c:dPt>
          <c:dPt>
            <c:idx val="15"/>
            <c:invertIfNegative val="0"/>
            <c:bubble3D val="0"/>
            <c:spPr>
              <a:solidFill>
                <a:srgbClr val="A9BCB6"/>
              </a:solidFill>
              <a:effectLst/>
            </c:spPr>
          </c:dPt>
          <c:cat>
            <c:multiLvlStrRef>
              <c:f>Sheet1!$A$2:$A$17</c:f>
              <c:multiLvlStrCache>
                <c:ptCount val="16"/>
                <c:lvl>
                  <c:pt idx="0">
                    <c:v>7 h</c:v>
                  </c:pt>
                  <c:pt idx="1">
                    <c:v>8 h</c:v>
                  </c:pt>
                  <c:pt idx="2">
                    <c:v>9 h</c:v>
                  </c:pt>
                  <c:pt idx="3">
                    <c:v>10 h</c:v>
                  </c:pt>
                  <c:pt idx="4">
                    <c:v>11 h</c:v>
                  </c:pt>
                  <c:pt idx="5">
                    <c:v>12 h</c:v>
                  </c:pt>
                  <c:pt idx="6">
                    <c:v>13 h</c:v>
                  </c:pt>
                  <c:pt idx="7">
                    <c:v>14 h</c:v>
                  </c:pt>
                  <c:pt idx="8">
                    <c:v>15 h</c:v>
                  </c:pt>
                  <c:pt idx="9">
                    <c:v>16 h</c:v>
                  </c:pt>
                  <c:pt idx="10">
                    <c:v>17 h</c:v>
                  </c:pt>
                  <c:pt idx="11">
                    <c:v>18 h</c:v>
                  </c:pt>
                  <c:pt idx="12">
                    <c:v>19 h</c:v>
                  </c:pt>
                  <c:pt idx="13">
                    <c:v>20 h</c:v>
                  </c:pt>
                  <c:pt idx="14">
                    <c:v>21 h</c:v>
                  </c:pt>
                  <c:pt idx="15">
                    <c:v>22 h</c:v>
                  </c:pt>
                </c:lvl>
              </c:multiLvlStrCache>
            </c:multiLvlStrRef>
          </c:cat>
          <c:val>
            <c:numRef>
              <c:f>Sheet1!$B$2:$B$17</c:f>
              <c:numCache>
                <c:formatCode>General</c:formatCode>
                <c:ptCount val="16"/>
                <c:pt idx="0">
                  <c:v>0.4</c:v>
                </c:pt>
                <c:pt idx="1">
                  <c:v>4.9</c:v>
                </c:pt>
                <c:pt idx="2">
                  <c:v>6.6</c:v>
                </c:pt>
                <c:pt idx="3">
                  <c:v>8.1</c:v>
                </c:pt>
                <c:pt idx="4">
                  <c:v>8.6</c:v>
                </c:pt>
                <c:pt idx="5">
                  <c:v>8.4</c:v>
                </c:pt>
                <c:pt idx="6">
                  <c:v>8</c:v>
                </c:pt>
                <c:pt idx="7">
                  <c:v>7</c:v>
                </c:pt>
                <c:pt idx="8">
                  <c:v>6.5</c:v>
                </c:pt>
                <c:pt idx="9">
                  <c:v>5.8</c:v>
                </c:pt>
                <c:pt idx="10">
                  <c:v>6.2</c:v>
                </c:pt>
                <c:pt idx="11">
                  <c:v>7.9</c:v>
                </c:pt>
                <c:pt idx="12">
                  <c:v>8.5</c:v>
                </c:pt>
                <c:pt idx="13">
                  <c:v>8.4</c:v>
                </c:pt>
                <c:pt idx="14">
                  <c:v>4.6</c:v>
                </c:pt>
                <c:pt idx="15">
                  <c:v>0</c:v>
                </c:pt>
              </c:numCache>
            </c:numRef>
          </c:val>
        </c:ser>
        <c:dLbls>
          <c:numFmt formatCode="#,##0" sourceLinked="0"/>
          <c:txPr>
            <a:bodyPr/>
            <a:lstStyle/>
            <a:p>
              <a:pPr>
                <a:defRPr b="0" i="0" strike="noStrike" sz="1000" u="none">
                  <a:solidFill>
                    <a:srgbClr val="4A5A5E"/>
                  </a:solidFill>
                  <a:latin typeface="+mn-lt"/>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A5E"/>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DCE5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A5E"/>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A5E"/>
                </a:solidFill>
                <a:latin typeface="+mn-lt"/>
              </a:defRPr>
            </a:pPr>
            <a:r>
              <a:rPr sz="1000" b="0" i="0" u="none" strike="noStrike">
                <a:solidFill>
                  <a:srgbClr val="4A5A5E"/>
                </a:solidFill>
                <a:latin typeface="+mn-lt"/>
              </a:rPr>
              <a:t>Ventes en semaine de forte grippe par rapport à une semaine normale (%)</a:t>
            </a:r>
          </a:p>
        </c:rich>
      </c:tx>
      <c:layout/>
      <c:overlay val="0"/>
    </c:title>
    <c:autoTitleDeleted val="0"/>
    <c:plotArea>
      <c:layout/>
      <c:barChart>
        <c:barDir val="bar"/>
        <c:grouping val="clustered"/>
        <c:varyColors val="0"/>
        <c:ser>
          <c:idx val="0"/>
          <c:order val="0"/>
          <c:tx>
            <c:strRef>
              <c:f>Sheet1!$B$1</c:f>
              <c:strCache>
                <c:ptCount val="1"/>
                <c:pt idx="0">
                  <c:v>Écart (%)</c:v>
                </c:pt>
              </c:strCache>
            </c:strRef>
          </c:tx>
          <c:spPr>
            <a:solidFill>
              <a:srgbClr val="E8704A"/>
            </a:solidFill>
            <a:effectLst/>
          </c:spPr>
          <c:invertIfNegative val="0"/>
          <c:dLbls>
            <c:numFmt formatCode="+0;-0;0" sourceLinked="0"/>
            <c:txPr>
              <a:bodyPr/>
              <a:lstStyle/>
              <a:p>
                <a:pPr>
                  <a:defRPr b="0" i="0" strike="noStrike" sz="1000" u="none">
                    <a:solidFill>
                      <a:srgbClr val="4A5A5E"/>
                    </a:solidFill>
                    <a:latin typeface="+mn-lt"/>
                  </a:defRPr>
                </a:pPr>
              </a:p>
            </c:txPr>
            <c:showLegendKey val="0"/>
            <c:showVal val="1"/>
            <c:showCatName val="0"/>
            <c:showSerName val="0"/>
            <c:showPercent val="0"/>
            <c:showBubbleSize val="0"/>
            <c:showLeaderLines val="0"/>
          </c:dLbls>
          <c:dPt>
            <c:idx val="0"/>
            <c:invertIfNegative val="0"/>
            <c:bubble3D val="0"/>
            <c:spPr>
              <a:solidFill>
                <a:srgbClr val="E8704A"/>
              </a:solidFill>
              <a:effectLst/>
            </c:spPr>
          </c:dPt>
          <c:dPt>
            <c:idx val="1"/>
            <c:invertIfNegative val="0"/>
            <c:bubble3D val="0"/>
            <c:spPr>
              <a:solidFill>
                <a:srgbClr val="E8704A"/>
              </a:solidFill>
              <a:effectLst/>
            </c:spPr>
          </c:dPt>
          <c:dPt>
            <c:idx val="2"/>
            <c:invertIfNegative val="0"/>
            <c:bubble3D val="0"/>
            <c:spPr>
              <a:solidFill>
                <a:srgbClr val="E8704A"/>
              </a:solidFill>
              <a:effectLst/>
            </c:spPr>
          </c:dPt>
          <c:dPt>
            <c:idx val="3"/>
            <c:invertIfNegative val="0"/>
            <c:bubble3D val="0"/>
            <c:spPr>
              <a:solidFill>
                <a:srgbClr val="E8704A"/>
              </a:solidFill>
              <a:effectLst/>
            </c:spPr>
          </c:dPt>
          <c:dPt>
            <c:idx val="4"/>
            <c:invertIfNegative val="0"/>
            <c:bubble3D val="0"/>
            <c:spPr>
              <a:solidFill>
                <a:srgbClr val="A9BCB6"/>
              </a:solidFill>
              <a:effectLst/>
            </c:spPr>
          </c:dPt>
          <c:dPt>
            <c:idx val="5"/>
            <c:invertIfNegative val="0"/>
            <c:bubble3D val="0"/>
            <c:spPr>
              <a:solidFill>
                <a:srgbClr val="A9BCB6"/>
              </a:solidFill>
              <a:effectLst/>
            </c:spPr>
          </c:dPt>
          <c:dPt>
            <c:idx val="6"/>
            <c:invertIfNegative val="0"/>
            <c:bubble3D val="0"/>
            <c:spPr>
              <a:solidFill>
                <a:srgbClr val="A9BCB6"/>
              </a:solidFill>
              <a:effectLst/>
            </c:spPr>
          </c:dPt>
          <c:dPt>
            <c:idx val="7"/>
            <c:invertIfNegative val="0"/>
            <c:bubble3D val="0"/>
            <c:spPr>
              <a:solidFill>
                <a:srgbClr val="A9BCB6"/>
              </a:solidFill>
              <a:effectLst/>
            </c:spPr>
          </c:dPt>
          <c:cat>
            <c:multiLvlStrRef>
              <c:f>Sheet1!$A$2:$A$9</c:f>
              <c:multiLvlStrCache>
                <c:ptCount val="8"/>
                <c:lvl>
                  <c:pt idx="0">
                    <c:v>Paracétamol</c:v>
                  </c:pt>
                  <c:pt idx="1">
                    <c:v>Antiasthmatiques</c:v>
                  </c:pt>
                  <c:pt idx="2">
                    <c:v>AINS propioniques</c:v>
                  </c:pt>
                  <c:pt idx="3">
                    <c:v>Aspirine et dérivés</c:v>
                  </c:pt>
                  <c:pt idx="4">
                    <c:v>Anxiolytiques</c:v>
                  </c:pt>
                  <c:pt idx="5">
                    <c:v>Somnifères</c:v>
                  </c:pt>
                  <c:pt idx="6">
                    <c:v>AINS acétiques</c:v>
                  </c:pt>
                  <c:pt idx="7">
                    <c:v>Antihistaminiques</c:v>
                  </c:pt>
                </c:lvl>
              </c:multiLvlStrCache>
            </c:multiLvlStrRef>
          </c:cat>
          <c:val>
            <c:numRef>
              <c:f>Sheet1!$B$2:$B$9</c:f>
              <c:numCache>
                <c:formatCode>General</c:formatCode>
                <c:ptCount val="8"/>
                <c:pt idx="0">
                  <c:v>46</c:v>
                </c:pt>
                <c:pt idx="1">
                  <c:v>44</c:v>
                </c:pt>
                <c:pt idx="2">
                  <c:v>27</c:v>
                </c:pt>
                <c:pt idx="3">
                  <c:v>17</c:v>
                </c:pt>
                <c:pt idx="4">
                  <c:v>7</c:v>
                </c:pt>
                <c:pt idx="5">
                  <c:v>3</c:v>
                </c:pt>
                <c:pt idx="6">
                  <c:v>1</c:v>
                </c:pt>
                <c:pt idx="7">
                  <c:v>-43</c:v>
                </c:pt>
              </c:numCache>
            </c:numRef>
          </c:val>
        </c:ser>
        <c:dLbls>
          <c:numFmt formatCode="+0;-0;0" sourceLinked="0"/>
          <c:txPr>
            <a:bodyPr/>
            <a:lstStyle/>
            <a:p>
              <a:pPr>
                <a:defRPr b="0" i="0" strike="noStrike" sz="1000" u="none">
                  <a:solidFill>
                    <a:srgbClr val="4A5A5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A5E"/>
                </a:solidFill>
                <a:latin typeface="+mn-lt"/>
              </a:defRPr>
            </a:pPr>
            <a:endParaRPr lang="en-US"/>
          </a:p>
        </c:txPr>
        <c:crossAx val="2094734552"/>
        <c:crosses val="autoZero"/>
        <c:auto val="1"/>
        <c:lblAlgn val="ctr"/>
        <c:noMultiLvlLbl val="1"/>
      </c:catAx>
      <c:valAx>
        <c:axId val="2094734552"/>
        <c:scaling>
          <c:orientation val="minMax"/>
          <c:max val="60"/>
          <c:min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5A5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A5E"/>
                </a:solidFill>
                <a:latin typeface="+mn-lt"/>
              </a:defRPr>
            </a:pPr>
            <a:r>
              <a:rPr sz="1000" b="0" i="0" u="none" strike="noStrike">
                <a:solidFill>
                  <a:srgbClr val="4A5A5E"/>
                </a:solidFill>
                <a:latin typeface="+mn-lt"/>
              </a:rPr>
              <a:t>Part des périodes avec vente qui comptent 2 unités ou moins (%)</a:t>
            </a:r>
          </a:p>
        </c:rich>
      </c:tx>
      <c:layout/>
      <c:overlay val="0"/>
    </c:title>
    <c:autoTitleDeleted val="0"/>
    <c:plotArea>
      <c:layout/>
      <c:barChart>
        <c:barDir val="col"/>
        <c:grouping val="clustered"/>
        <c:varyColors val="0"/>
        <c:ser>
          <c:idx val="0"/>
          <c:order val="0"/>
          <c:tx>
            <c:strRef>
              <c:f>Sheet1!$B$1</c:f>
              <c:strCache>
                <c:ptCount val="1"/>
                <c:pt idx="0">
                  <c:v>Anxiolytiques</c:v>
                </c:pt>
              </c:strCache>
            </c:strRef>
          </c:tx>
          <c:spPr>
            <a:solidFill>
              <a:srgbClr val="5B7C99"/>
            </a:solidFill>
            <a:effectLst/>
          </c:spPr>
          <c:invertIfNegative val="0"/>
          <c:dLbls>
            <c:numFmt formatCode="0" sourceLinked="0"/>
            <c:txPr>
              <a:bodyPr/>
              <a:lstStyle/>
              <a:p>
                <a:pPr>
                  <a:defRPr b="0" i="0" strike="noStrike" sz="1000" u="none">
                    <a:solidFill>
                      <a:srgbClr val="4A5A5E"/>
                    </a:solidFill>
                    <a:latin typeface="+mn-lt"/>
                  </a:defRPr>
                </a:pPr>
              </a:p>
            </c:txPr>
            <c:showLegendKey val="0"/>
            <c:showVal val="1"/>
            <c:showCatName val="0"/>
            <c:showSerName val="0"/>
            <c:showPercent val="0"/>
            <c:showBubbleSize val="0"/>
            <c:showLeaderLines val="0"/>
          </c:dLbls>
          <c:cat>
            <c:multiLvlStrRef>
              <c:f>Sheet1!$A$2:$A$5</c:f>
              <c:multiLvlStrCache>
                <c:ptCount val="4"/>
                <c:lvl>
                  <c:pt idx="0">
                    <c:v>Heure</c:v>
                  </c:pt>
                  <c:pt idx="1">
                    <c:v>Jour</c:v>
                  </c:pt>
                  <c:pt idx="2">
                    <c:v>Semaine</c:v>
                  </c:pt>
                  <c:pt idx="3">
                    <c:v>Mois</c:v>
                  </c:pt>
                </c:lvl>
              </c:multiLvlStrCache>
            </c:multiLvlStrRef>
          </c:cat>
          <c:val>
            <c:numRef>
              <c:f>Sheet1!$B$2:$B$5</c:f>
              <c:numCache>
                <c:formatCode>General</c:formatCode>
                <c:ptCount val="4"/>
                <c:pt idx="0">
                  <c:v>82</c:v>
                </c:pt>
                <c:pt idx="1">
                  <c:v>7</c:v>
                </c:pt>
                <c:pt idx="2">
                  <c:v>0</c:v>
                </c:pt>
                <c:pt idx="3">
                  <c:v>0</c:v>
                </c:pt>
              </c:numCache>
            </c:numRef>
          </c:val>
        </c:ser>
        <c:ser>
          <c:idx val="1"/>
          <c:order val="1"/>
          <c:tx>
            <c:strRef>
              <c:f>Sheet1!$C$1</c:f>
              <c:strCache>
                <c:ptCount val="1"/>
                <c:pt idx="0">
                  <c:v>Somnifères</c:v>
                </c:pt>
              </c:strCache>
            </c:strRef>
          </c:tx>
          <c:spPr>
            <a:solidFill>
              <a:srgbClr val="E8704A"/>
            </a:solidFill>
            <a:effectLst/>
          </c:spPr>
          <c:invertIfNegative val="0"/>
          <c:dLbls>
            <c:numFmt formatCode="0" sourceLinked="0"/>
            <c:txPr>
              <a:bodyPr/>
              <a:lstStyle/>
              <a:p>
                <a:pPr>
                  <a:defRPr b="0" i="0" strike="noStrike" sz="1000" u="none">
                    <a:solidFill>
                      <a:srgbClr val="4A5A5E"/>
                    </a:solidFill>
                    <a:latin typeface="+mn-lt"/>
                  </a:defRPr>
                </a:pPr>
              </a:p>
            </c:txPr>
            <c:showLegendKey val="0"/>
            <c:showVal val="1"/>
            <c:showCatName val="0"/>
            <c:showSerName val="0"/>
            <c:showPercent val="0"/>
            <c:showBubbleSize val="0"/>
            <c:showLeaderLines val="0"/>
          </c:dLbls>
          <c:cat>
            <c:multiLvlStrRef>
              <c:f>Sheet1!$A$2:$A$5</c:f>
              <c:multiLvlStrCache>
                <c:ptCount val="4"/>
                <c:lvl>
                  <c:pt idx="0">
                    <c:v>Heure</c:v>
                  </c:pt>
                  <c:pt idx="1">
                    <c:v>Jour</c:v>
                  </c:pt>
                  <c:pt idx="2">
                    <c:v>Semaine</c:v>
                  </c:pt>
                  <c:pt idx="3">
                    <c:v>Mois</c:v>
                  </c:pt>
                </c:lvl>
              </c:multiLvlStrCache>
            </c:multiLvlStrRef>
          </c:cat>
          <c:val>
            <c:numRef>
              <c:f>Sheet1!$C$2:$C$5</c:f>
              <c:numCache>
                <c:formatCode>General</c:formatCode>
                <c:ptCount val="4"/>
                <c:pt idx="0">
                  <c:v>86</c:v>
                </c:pt>
                <c:pt idx="1">
                  <c:v>75</c:v>
                </c:pt>
                <c:pt idx="2">
                  <c:v>22</c:v>
                </c:pt>
                <c:pt idx="3">
                  <c:v>0</c:v>
                </c:pt>
              </c:numCache>
            </c:numRef>
          </c:val>
        </c:ser>
        <c:dLbls>
          <c:numFmt formatCode="0" sourceLinked="0"/>
          <c:txPr>
            <a:bodyPr/>
            <a:lstStyle/>
            <a:p>
              <a:pPr>
                <a:defRPr b="0" i="0" strike="noStrike" sz="1000" u="none">
                  <a:solidFill>
                    <a:srgbClr val="4A5A5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A5E"/>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CE5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A5E"/>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solidFill>
                <a:srgbClr val="4A5A5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donne la conclusion tout de suite. Les données sont exploitables, à condition d'écarter le fichier mensuel du client. L'outil est livré et se met à jour par le code. La prévision fonctionne pour une partie des médicaments seulement, et je vais vous montrer comment on le sait. Ce qu'on n'a pas pu traiter dessine la mission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client nous a prévenus que personne n'avait vérifié ses quatre fichiers. Nous l'avons fait. L'horaire, le journalier et l'hebdomadaire donnent les mêmes totaux. Le mensuel dépasse la somme des jours près d'un mois sur deux, toujours à la hausse. Nous l'avons écarté et recalculé à partir du journalier. Nous ne savons pas d'où vient l'écart : c'est une question à poser au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rejoué les 24 derniers mois : chaque mois est prévu avec les seuls mois qui le précèdent, puis comparé au réel. Un modèle ne vaut que s'il bat la prévision que le pharmacien ferait seul. Pour le paracétamol, il réduit l'erreur de 35 %. Pour les antihistaminiques, de 21 %. Pour les six autres, il ne fait pas mieux : nous ne promettons rien dessus.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où s'arrête ce que nous pouvons affirmer. Nous parlons de quantités, jamais de chiffre d'affaires. L'export ne couvre que huit groupes. Nous avons croisé les ventes avec la grippe, mais avec une donnée nationale faute de connaître la ville. Et 2017 est une année basse que nous ne savons pas expliquer. Aucune de ces limites n'invalide l'analyse, mais chacune en borne les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suivi mensuel s'appuie sur le code déjà écrit : il se relance sur chaque nouvel export. Les deux autres volets dépendent de données que le client possède et ne nous a pas transmises. Ma recommandation est de proposer cette suite, en commençant par lui demander ces informations.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Vous savez déjà ce qui se vend. Ce que les six ans de données ajoutent, c'est le quand : quels mois, quels jours, et pour quels médicaments on peut annoncer un chiffre à l'avance. Trois ordres de grandeur pour commencer.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se lit ligne par ligne. 100, c'est un mois moyen pour le groupe. Les antihistaminiques montent d'avril à juin. Le paracétamol et les antiasthmatiques sont forts en janvier, octobre et décembre, et creux l'été. Les anti-inflammatoires acétiques et les anxiolytiques bougent peu : leur stock peut rester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anxiolytiques et les somnifères se vendent en semaine et chutent le dimanche. Le paracétamol et les anti-inflammatoires font l'inverse : ils montent le samedi et le dimanche. Les antiasthmatiques, eux, varient peu selon le jour.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testé la prévision sur 24 mois. Pour le paracétamol et les antihistaminiques, le modèle fait mieux que de reprendre le chiffre du mois dernier : on peut annoncer un volume. Pour les six autres, non. Les somnifères, en particulier, ne se vendent pas deux jours sur trois : mieux vaut un petit stock fixe qu'une prévision.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L'outil est dans le classeur, feuille Outil. Vous saisissez une date de début et une date de fin, vous mettez Oui devant les groupes qui vous intéressent, et les ventes s'affichent. Pas de macro, pas de Python : il fonctionne dans Excel 365. Je vous le montre.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Vous vouliez savoir ce qui dépend de la pharmacie et ce qui dépend de son environnement, et quoi répondre au laboratoire. Nous avons trois réponses : une sur l'organisation de la journée, une sur l'hiver, une sur vos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ventes se concentrent sur deux créneaux : la fin de matinée et le début de soirée. C'est là que l'équipe doit être au complet. À 7 h et à 22 h, on enregistre moins de 1 % des ventes. Attention : nous ne connaissons pas vos horaires réels, et l'export ne couvre que huit groupes. C'est une question à voir avec vous, pas une recommandation de fermer.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comparé vos ventes au nombre de cas de grippe en France, semaine par semaine, avec les données publiques du réseau Sentinelles. Les semaines de forte grippe, le paracétamol et les antiasthmatiques se vendent environ 45 % de plus. Ce n'est pas dû à la pharmacie : c'est l'environnement. Les anxiolytiques et les somnifères, eux, ne bougent pas. La baisse des antihistaminiques est un effet de saison : les allergies sont au printemps.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L'export ne contient aucun nom. Mais les somnifères se vendent à l'unité. Si un voisin voit quelqu'un entrer à 9 h, et que le fichier montre une seule vente de somnifère entre 9 h et 10 h, il sait ce que cette personne a acheté. À l'heure, plus de huit ventes sur dix sont dans ce cas. Au mois, plus aucune.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recommandation est de ne pas donner l'export tel quel. Vous pouvez proposer un fichier mensuel, avec un contrat qui limite ce que le laboratoire peut en faire. Et avant de signer, faites valider le montage par l'Ordre ou un juriste : au-delà du RGPD, il y a le secret professionnel, votre indépendance, et la règle qui encadre les avantages offerts par les laboratoires. Nous sommes consultants en données, pas juristes.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uvertu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868680"/>
            <a:ext cx="8229600" cy="11887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457200" y="2103120"/>
            <a:ext cx="8229600" cy="54864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
        <p:nvSpPr>
          <p:cNvPr id="4"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chemeClr val="bg2"/>
                </a:solidFill>
              </a:rPr>
              <a:t>Rush 2 – Analyse des ventes de la pharmacie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685800"/>
            <a:ext cx="8229600" cy="8229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chemeClr val="accent4"/>
                </a:solidFill>
              </a:rPr>
              <a:t>Rush 2 – Analyse des ventes de la pharmacie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tiquette-1"/>
          <p:cNvSpPr txBox="1"/>
          <p:nvPr/>
        </p:nvSpPr>
        <p:spPr>
          <a:xfrm>
            <a:off x="457200" y="292608"/>
            <a:ext cx="2651760" cy="292608"/>
          </a:xfrm>
          <a:prstGeom prst="roundRect">
            <a:avLst>
              <a:gd name="adj" fmla="val 50000"/>
            </a:avLst>
          </a:prstGeom>
          <a:solidFill>
            <a:schemeClr val="accent5"/>
          </a:solidFill>
          <a:ln/>
        </p:spPr>
        <p:txBody>
          <a:bodyPr wrap="square" lIns="0" tIns="0" rIns="0" bIns="0" rtlCol="0" anchor="ctr"/>
          <a:lstStyle/>
          <a:p>
            <a:pPr algn="ctr" indent="0" marL="0">
              <a:buNone/>
            </a:pPr>
            <a:r>
              <a:rPr lang="en-US" sz="1000" b="1" dirty="0">
                <a:solidFill>
                  <a:schemeClr val="tx1"/>
                </a:solidFill>
              </a:rPr>
              <a:t>POUR LE MANAGER · 1/5</a:t>
            </a:r>
            <a:endParaRPr lang="en-US" sz="1000" dirty="0"/>
          </a:p>
        </p:txBody>
      </p:sp>
      <p:sp>
        <p:nvSpPr>
          <p:cNvPr id="3" name="Text 0"/>
          <p:cNvSpPr/>
          <p:nvPr>
            <p:ph idx="100" type="title" hasCustomPrompt="1"/>
          </p:nvPr>
        </p:nvSpPr>
        <p:spPr>
          <a:xfrm>
            <a:off x="457200" y="868680"/>
            <a:ext cx="8229600" cy="1188720"/>
          </a:xfrm>
          <a:prstGeom prst="rect">
            <a:avLst/>
          </a:prstGeom>
          <a:noFill/>
          <a:ln/>
        </p:spPr>
        <p:txBody>
          <a:bodyPr wrap="square" lIns="0" tIns="0" rIns="0" bIns="0" rtlCol="0" anchor="t"/>
          <a:lstStyle/>
          <a:p>
            <a:pPr algn="l" indent="0" marL="0">
              <a:buNone/>
            </a:pPr>
            <a:r>
              <a:rPr lang="en-US" sz="3400" b="1" dirty="0">
                <a:solidFill>
                  <a:schemeClr val="bg1"/>
                </a:solidFill>
              </a:rPr>
              <a:t>Une analyse vérifiée, un outil livré, une suite à proposer</a:t>
            </a:r>
            <a:endParaRPr lang="en-US" sz="3400" dirty="0"/>
          </a:p>
        </p:txBody>
      </p:sp>
      <p:sp>
        <p:nvSpPr>
          <p:cNvPr id="5" name="Text 0"/>
          <p:cNvSpPr/>
          <p:nvPr>
            <p:ph idx="101" type="body" hasCustomPrompt="1"/>
          </p:nvPr>
        </p:nvSpPr>
        <p:spPr>
          <a:xfrm>
            <a:off x="457200" y="2103120"/>
            <a:ext cx="8229600" cy="548640"/>
          </a:xfrm>
          <a:prstGeom prst="rect">
            <a:avLst/>
          </a:prstGeom>
          <a:noFill/>
          <a:ln/>
        </p:spPr>
        <p:txBody>
          <a:bodyPr wrap="square" lIns="0" tIns="0" rIns="0" bIns="0" rtlCol="0" anchor="t"/>
          <a:lstStyle/>
          <a:p>
            <a:pPr algn="l" indent="0" marL="0">
              <a:buNone/>
            </a:pPr>
            <a:r>
              <a:rPr lang="en-US" sz="1600" dirty="0">
                <a:solidFill>
                  <a:schemeClr val="bg2"/>
                </a:solidFill>
              </a:rPr>
              <a:t>Six ans de ventes, huit groupes de médicaments, quatre exports du logiciel de caisse</a:t>
            </a:r>
            <a:endParaRPr lang="en-US" sz="1600" dirty="0"/>
          </a:p>
        </p:txBody>
      </p:sp>
      <p:sp>
        <p:nvSpPr>
          <p:cNvPr id="6" name="chiffre-2"/>
          <p:cNvSpPr txBox="1"/>
          <p:nvPr/>
        </p:nvSpPr>
        <p:spPr>
          <a:xfrm>
            <a:off x="457200" y="2880360"/>
            <a:ext cx="2468880" cy="731520"/>
          </a:xfrm>
          <a:prstGeom prst="rect">
            <a:avLst/>
          </a:prstGeom>
          <a:noFill/>
          <a:ln/>
        </p:spPr>
        <p:txBody>
          <a:bodyPr wrap="square" lIns="0" tIns="0" rIns="0" bIns="0" rtlCol="0" anchor="ctr"/>
          <a:lstStyle/>
          <a:p>
            <a:pPr indent="0" marL="0">
              <a:buNone/>
            </a:pPr>
            <a:r>
              <a:rPr lang="en-US" sz="4400" b="1" dirty="0">
                <a:solidFill>
                  <a:schemeClr val="accent5"/>
                </a:solidFill>
                <a:latin typeface="Cambria" pitchFamily="34" charset="0"/>
                <a:ea typeface="Cambria" pitchFamily="34" charset="-122"/>
                <a:cs typeface="Cambria" pitchFamily="34" charset="-120"/>
              </a:rPr>
              <a:t>3 sur 4</a:t>
            </a:r>
            <a:endParaRPr lang="en-US" sz="4400" dirty="0"/>
          </a:p>
        </p:txBody>
      </p:sp>
      <p:sp>
        <p:nvSpPr>
          <p:cNvPr id="7" name="libelle-3"/>
          <p:cNvSpPr txBox="1"/>
          <p:nvPr/>
        </p:nvSpPr>
        <p:spPr>
          <a:xfrm>
            <a:off x="457200" y="3657600"/>
            <a:ext cx="2468880" cy="731520"/>
          </a:xfrm>
          <a:prstGeom prst="rect">
            <a:avLst/>
          </a:prstGeom>
          <a:noFill/>
          <a:ln/>
        </p:spPr>
        <p:txBody>
          <a:bodyPr wrap="square" lIns="0" tIns="0" rIns="0" bIns="0" rtlCol="0" anchor="t"/>
          <a:lstStyle/>
          <a:p>
            <a:pPr indent="0" marL="0">
              <a:buNone/>
            </a:pPr>
            <a:r>
              <a:rPr lang="en-US" sz="1400" dirty="0">
                <a:solidFill>
                  <a:schemeClr val="bg1"/>
                </a:solidFill>
              </a:rPr>
              <a:t>exports fiables : le mensuel du client est écarté</a:t>
            </a:r>
            <a:endParaRPr lang="en-US" sz="1400" dirty="0"/>
          </a:p>
        </p:txBody>
      </p:sp>
      <p:sp>
        <p:nvSpPr>
          <p:cNvPr id="8" name="chiffre-4"/>
          <p:cNvSpPr txBox="1"/>
          <p:nvPr/>
        </p:nvSpPr>
        <p:spPr>
          <a:xfrm>
            <a:off x="3337560" y="2880360"/>
            <a:ext cx="2468880" cy="731520"/>
          </a:xfrm>
          <a:prstGeom prst="rect">
            <a:avLst/>
          </a:prstGeom>
          <a:noFill/>
          <a:ln/>
        </p:spPr>
        <p:txBody>
          <a:bodyPr wrap="square" lIns="0" tIns="0" rIns="0" bIns="0" rtlCol="0" anchor="ctr"/>
          <a:lstStyle/>
          <a:p>
            <a:pPr indent="0" marL="0">
              <a:buNone/>
            </a:pPr>
            <a:r>
              <a:rPr lang="en-US" sz="4400" b="1" dirty="0">
                <a:solidFill>
                  <a:schemeClr val="accent5"/>
                </a:solidFill>
                <a:latin typeface="Cambria" pitchFamily="34" charset="0"/>
                <a:ea typeface="Cambria" pitchFamily="34" charset="-122"/>
                <a:cs typeface="Cambria" pitchFamily="34" charset="-120"/>
              </a:rPr>
              <a:t>2 sur 8</a:t>
            </a:r>
            <a:endParaRPr lang="en-US" sz="4400" dirty="0"/>
          </a:p>
        </p:txBody>
      </p:sp>
      <p:sp>
        <p:nvSpPr>
          <p:cNvPr id="9" name="libelle-5"/>
          <p:cNvSpPr txBox="1"/>
          <p:nvPr/>
        </p:nvSpPr>
        <p:spPr>
          <a:xfrm>
            <a:off x="3337560" y="3657600"/>
            <a:ext cx="2468880" cy="731520"/>
          </a:xfrm>
          <a:prstGeom prst="rect">
            <a:avLst/>
          </a:prstGeom>
          <a:noFill/>
          <a:ln/>
        </p:spPr>
        <p:txBody>
          <a:bodyPr wrap="square" lIns="0" tIns="0" rIns="0" bIns="0" rtlCol="0" anchor="t"/>
          <a:lstStyle/>
          <a:p>
            <a:pPr indent="0" marL="0">
              <a:buNone/>
            </a:pPr>
            <a:r>
              <a:rPr lang="en-US" sz="1400" dirty="0">
                <a:solidFill>
                  <a:schemeClr val="bg1"/>
                </a:solidFill>
              </a:rPr>
              <a:t>groupes prévisibles le mois suivant, test à l'appui</a:t>
            </a:r>
            <a:endParaRPr lang="en-US" sz="1400" dirty="0"/>
          </a:p>
        </p:txBody>
      </p:sp>
      <p:sp>
        <p:nvSpPr>
          <p:cNvPr id="10" name="chiffre-6"/>
          <p:cNvSpPr txBox="1"/>
          <p:nvPr/>
        </p:nvSpPr>
        <p:spPr>
          <a:xfrm>
            <a:off x="6217920" y="2880360"/>
            <a:ext cx="2468880" cy="731520"/>
          </a:xfrm>
          <a:prstGeom prst="rect">
            <a:avLst/>
          </a:prstGeom>
          <a:noFill/>
          <a:ln/>
        </p:spPr>
        <p:txBody>
          <a:bodyPr wrap="square" lIns="0" tIns="0" rIns="0" bIns="0" rtlCol="0" anchor="ctr"/>
          <a:lstStyle/>
          <a:p>
            <a:pPr indent="0" marL="0">
              <a:buNone/>
            </a:pPr>
            <a:r>
              <a:rPr lang="en-US" sz="4400" b="1" dirty="0">
                <a:solidFill>
                  <a:schemeClr val="accent5"/>
                </a:solidFill>
                <a:latin typeface="Cambria" pitchFamily="34" charset="0"/>
                <a:ea typeface="Cambria" pitchFamily="34" charset="-122"/>
                <a:cs typeface="Cambria" pitchFamily="34" charset="-120"/>
              </a:rPr>
              <a:t>1</a:t>
            </a:r>
            <a:endParaRPr lang="en-US" sz="4400" dirty="0"/>
          </a:p>
        </p:txBody>
      </p:sp>
      <p:sp>
        <p:nvSpPr>
          <p:cNvPr id="11" name="libelle-7"/>
          <p:cNvSpPr txBox="1"/>
          <p:nvPr/>
        </p:nvSpPr>
        <p:spPr>
          <a:xfrm>
            <a:off x="6217920" y="3657600"/>
            <a:ext cx="2468880" cy="731520"/>
          </a:xfrm>
          <a:prstGeom prst="rect">
            <a:avLst/>
          </a:prstGeom>
          <a:noFill/>
          <a:ln/>
        </p:spPr>
        <p:txBody>
          <a:bodyPr wrap="square" lIns="0" tIns="0" rIns="0" bIns="0" rtlCol="0" anchor="t"/>
          <a:lstStyle/>
          <a:p>
            <a:pPr indent="0" marL="0">
              <a:buNone/>
            </a:pPr>
            <a:r>
              <a:rPr lang="en-US" sz="1400" dirty="0">
                <a:solidFill>
                  <a:schemeClr val="bg1"/>
                </a:solidFill>
              </a:rPr>
              <a:t>classeur Excel régénéré par le code à chaque export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tiquette-8"/>
          <p:cNvSpPr txBox="1"/>
          <p:nvPr/>
        </p:nvSpPr>
        <p:spPr>
          <a:xfrm>
            <a:off x="457200" y="292608"/>
            <a:ext cx="26517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POUR LE MANAGER · 2/5</a:t>
            </a:r>
            <a:endParaRPr lang="en-US" sz="1000" dirty="0"/>
          </a:p>
        </p:txBody>
      </p:sp>
      <p:sp>
        <p:nvSpPr>
          <p:cNvPr id="3" name="Text 0"/>
          <p:cNvSpPr/>
          <p:nvPr>
            <p:ph idx="100" type="title" hasCustomPrompt="1"/>
          </p:nvPr>
        </p:nvSpPr>
        <p:spPr>
          <a:xfrm>
            <a:off x="457200" y="685800"/>
            <a:ext cx="8229600" cy="822960"/>
          </a:xfrm>
          <a:prstGeom prst="rect">
            <a:avLst/>
          </a:prstGeom>
          <a:noFill/>
          <a:ln/>
        </p:spPr>
        <p:txBody>
          <a:bodyPr wrap="square" lIns="0" tIns="0" rIns="0" bIns="0" rtlCol="0" anchor="t"/>
          <a:lstStyle/>
          <a:p>
            <a:pPr algn="l" indent="0" marL="0">
              <a:buNone/>
            </a:pPr>
            <a:r>
              <a:rPr lang="en-US" sz="2800" b="1" dirty="0">
                <a:solidFill>
                  <a:schemeClr val="tx2"/>
                </a:solidFill>
              </a:rPr>
              <a:t>Un export sur quatre ne concorde pas : nous l'avons écarté</a:t>
            </a:r>
            <a:endParaRPr lang="en-US" sz="2800" dirty="0"/>
          </a:p>
        </p:txBody>
      </p:sp>
      <p:graphicFrame>
        <p:nvGraphicFramePr>
          <p:cNvPr id="5" name="graphique-9" descr=""/>
          <p:cNvGraphicFramePr/>
          <p:nvPr/>
        </p:nvGraphicFramePr>
        <p:xfrm>
          <a:off x="457200" y="1600200"/>
          <a:ext cx="5394960" cy="2971800"/>
        </p:xfrm>
        <a:graphic xmlns:a="http://schemas.openxmlformats.org/drawingml/2006/main">
          <a:graphicData uri="http://schemas.openxmlformats.org/drawingml/2006/chart">
            <c:chart xmlns:c="http://schemas.openxmlformats.org/drawingml/2006/chart" r:id="rId1"/>
          </a:graphicData>
        </a:graphic>
      </p:graphicFrame>
      <p:sp>
        <p:nvSpPr>
          <p:cNvPr id="6" name="points-10"/>
          <p:cNvSpPr txBox="1"/>
          <p:nvPr/>
        </p:nvSpPr>
        <p:spPr>
          <a:xfrm>
            <a:off x="6172200" y="1645920"/>
            <a:ext cx="2514600" cy="2926080"/>
          </a:xfrm>
          <a:prstGeom prst="rect">
            <a:avLst/>
          </a:prstGeom>
          <a:noFill/>
          <a:ln/>
        </p:spPr>
        <p:txBody>
          <a:bodyPr wrap="square" lIns="0" tIns="0" rIns="0" bIns="0" rtlCol="0" anchor="t"/>
          <a:lstStyle/>
          <a:p>
            <a:pPr indent="0" marL="0">
              <a:buNone/>
            </a:pPr>
            <a:r>
              <a:rPr lang="en-US" sz="1500" b="1" dirty="0">
                <a:solidFill>
                  <a:schemeClr val="tx2"/>
                </a:solidFill>
              </a:rPr>
              <a:t>31 mois sur 70 en écart</a:t>
            </a:r>
            <a:endParaRPr lang="en-US" sz="1500" dirty="0"/>
          </a:p>
          <a:p>
            <a:pPr indent="0" marL="0">
              <a:spcAft>
                <a:spcPts val="1000"/>
              </a:spcAft>
              <a:buNone/>
            </a:pPr>
            <a:r>
              <a:rPr lang="en-US" sz="1400" dirty="0">
                <a:solidFill>
                  <a:schemeClr val="tx1"/>
                </a:solidFill>
              </a:rPr>
              <a:t>Toujours à la hausse, jusqu'à +75 % en octobre 2014.</a:t>
            </a:r>
            <a:endParaRPr lang="en-US" sz="1500" dirty="0"/>
          </a:p>
          <a:p>
            <a:pPr indent="0" marL="0">
              <a:buNone/>
            </a:pPr>
            <a:r>
              <a:rPr lang="en-US" sz="1500" b="1" dirty="0">
                <a:solidFill>
                  <a:schemeClr val="tx2"/>
                </a:solidFill>
              </a:rPr>
              <a:t>Les trois autres concordent</a:t>
            </a:r>
            <a:endParaRPr lang="en-US" sz="1500" dirty="0"/>
          </a:p>
          <a:p>
            <a:pPr indent="0" marL="0">
              <a:spcAft>
                <a:spcPts val="1000"/>
              </a:spcAft>
              <a:buNone/>
            </a:pPr>
            <a:r>
              <a:rPr lang="en-US" sz="1400" dirty="0">
                <a:solidFill>
                  <a:schemeClr val="tx1"/>
                </a:solidFill>
              </a:rPr>
              <a:t>Horaire, journalier et hebdomadaire : totaux identiques.</a:t>
            </a:r>
            <a:endParaRPr lang="en-US" sz="1500" dirty="0"/>
          </a:p>
          <a:p>
            <a:pPr indent="0" marL="0">
              <a:buNone/>
            </a:pPr>
            <a:r>
              <a:rPr lang="en-US" sz="1500" b="1" dirty="0">
                <a:solidFill>
                  <a:schemeClr val="tx2"/>
                </a:solidFill>
              </a:rPr>
              <a:t>Notre décision</a:t>
            </a:r>
            <a:endParaRPr lang="en-US" sz="1500" dirty="0"/>
          </a:p>
          <a:p>
            <a:pPr indent="0" marL="0">
              <a:spcAft>
                <a:spcPts val="1000"/>
              </a:spcAft>
              <a:buNone/>
            </a:pPr>
            <a:r>
              <a:rPr lang="en-US" sz="1400" dirty="0">
                <a:solidFill>
                  <a:schemeClr val="tx1"/>
                </a:solidFill>
              </a:rPr>
              <a:t>Mois recalculés à partir du journalier.</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tiquette-11"/>
          <p:cNvSpPr txBox="1"/>
          <p:nvPr/>
        </p:nvSpPr>
        <p:spPr>
          <a:xfrm>
            <a:off x="457200" y="292608"/>
            <a:ext cx="26517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POUR LE MANAGER · 3/5</a:t>
            </a:r>
            <a:endParaRPr lang="en-US" sz="1000" dirty="0"/>
          </a:p>
        </p:txBody>
      </p:sp>
      <p:sp>
        <p:nvSpPr>
          <p:cNvPr id="3" name="Text 0"/>
          <p:cNvSpPr/>
          <p:nvPr>
            <p:ph idx="100" type="title" hasCustomPrompt="1"/>
          </p:nvPr>
        </p:nvSpPr>
        <p:spPr>
          <a:xfrm>
            <a:off x="457200" y="685800"/>
            <a:ext cx="8229600" cy="822960"/>
          </a:xfrm>
          <a:prstGeom prst="rect">
            <a:avLst/>
          </a:prstGeom>
          <a:noFill/>
          <a:ln/>
        </p:spPr>
        <p:txBody>
          <a:bodyPr wrap="square" lIns="0" tIns="0" rIns="0" bIns="0" rtlCol="0" anchor="t"/>
          <a:lstStyle/>
          <a:p>
            <a:pPr algn="l" indent="0" marL="0">
              <a:buNone/>
            </a:pPr>
            <a:r>
              <a:rPr lang="en-US" sz="2800" b="1" dirty="0">
                <a:solidFill>
                  <a:schemeClr val="tx2"/>
                </a:solidFill>
              </a:rPr>
              <a:t>Prévoir le mois suivant : oui pour 2 groupes sur 8</a:t>
            </a:r>
            <a:endParaRPr lang="en-US" sz="2800" dirty="0"/>
          </a:p>
        </p:txBody>
      </p:sp>
      <p:graphicFrame>
        <p:nvGraphicFramePr>
          <p:cNvPr id="5" name="graphique-12" descr=""/>
          <p:cNvGraphicFramePr/>
          <p:nvPr/>
        </p:nvGraphicFramePr>
        <p:xfrm>
          <a:off x="457200" y="1600200"/>
          <a:ext cx="5212080" cy="2971800"/>
        </p:xfrm>
        <a:graphic xmlns:a="http://schemas.openxmlformats.org/drawingml/2006/main">
          <a:graphicData uri="http://schemas.openxmlformats.org/drawingml/2006/chart">
            <c:chart xmlns:c="http://schemas.openxmlformats.org/drawingml/2006/chart" r:id="rId1"/>
          </a:graphicData>
        </a:graphic>
      </p:graphicFrame>
      <p:sp>
        <p:nvSpPr>
          <p:cNvPr id="6" name="points-13"/>
          <p:cNvSpPr txBox="1"/>
          <p:nvPr/>
        </p:nvSpPr>
        <p:spPr>
          <a:xfrm>
            <a:off x="5943600" y="1645920"/>
            <a:ext cx="2743200" cy="2926080"/>
          </a:xfrm>
          <a:prstGeom prst="rect">
            <a:avLst/>
          </a:prstGeom>
          <a:noFill/>
          <a:ln/>
        </p:spPr>
        <p:txBody>
          <a:bodyPr wrap="square" lIns="0" tIns="0" rIns="0" bIns="0" rtlCol="0" anchor="t"/>
          <a:lstStyle/>
          <a:p>
            <a:pPr indent="0" marL="0">
              <a:buNone/>
            </a:pPr>
            <a:r>
              <a:rPr lang="en-US" sz="1500" b="1" dirty="0">
                <a:solidFill>
                  <a:schemeClr val="tx2"/>
                </a:solidFill>
              </a:rPr>
              <a:t>Règle : 0,80 ou moins</a:t>
            </a:r>
            <a:endParaRPr lang="en-US" sz="1500" dirty="0"/>
          </a:p>
          <a:p>
            <a:pPr indent="0" marL="0">
              <a:spcAft>
                <a:spcPts val="1000"/>
              </a:spcAft>
              <a:buNone/>
            </a:pPr>
            <a:r>
              <a:rPr lang="en-US" sz="1400" dirty="0">
                <a:solidFill>
                  <a:schemeClr val="tx1"/>
                </a:solidFill>
              </a:rPr>
              <a:t>Le modèle doit réduire l'erreur d'au moins 20 %.</a:t>
            </a:r>
            <a:endParaRPr lang="en-US" sz="1500" dirty="0"/>
          </a:p>
          <a:p>
            <a:pPr indent="0" marL="0">
              <a:buNone/>
            </a:pPr>
            <a:r>
              <a:rPr lang="en-US" sz="1500" b="1" dirty="0">
                <a:solidFill>
                  <a:schemeClr val="tx2"/>
                </a:solidFill>
              </a:rPr>
              <a:t>Test sur 24 mois</a:t>
            </a:r>
            <a:endParaRPr lang="en-US" sz="1500" dirty="0"/>
          </a:p>
          <a:p>
            <a:pPr indent="0" marL="0">
              <a:spcAft>
                <a:spcPts val="1000"/>
              </a:spcAft>
              <a:buNone/>
            </a:pPr>
            <a:r>
              <a:rPr lang="en-US" sz="1400" dirty="0">
                <a:solidFill>
                  <a:schemeClr val="tx1"/>
                </a:solidFill>
              </a:rPr>
              <a:t>Chaque mois prévu avec les seuls mois précédents.</a:t>
            </a:r>
            <a:endParaRPr lang="en-US" sz="1500" dirty="0"/>
          </a:p>
          <a:p>
            <a:pPr indent="0" marL="0">
              <a:buNone/>
            </a:pPr>
            <a:r>
              <a:rPr lang="en-US" sz="1500" b="1" dirty="0">
                <a:solidFill>
                  <a:schemeClr val="tx2"/>
                </a:solidFill>
              </a:rPr>
              <a:t>Octobre 2019</a:t>
            </a:r>
            <a:endParaRPr lang="en-US" sz="1500" dirty="0"/>
          </a:p>
          <a:p>
            <a:pPr indent="0" marL="0">
              <a:spcAft>
                <a:spcPts val="1000"/>
              </a:spcAft>
              <a:buNone/>
            </a:pPr>
            <a:r>
              <a:rPr lang="en-US" sz="1400" dirty="0">
                <a:solidFill>
                  <a:schemeClr val="tx1"/>
                </a:solidFill>
              </a:rPr>
              <a:t>Paracétamol : environ 1 230 unités, à 140 près.</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tiquette-14"/>
          <p:cNvSpPr txBox="1"/>
          <p:nvPr/>
        </p:nvSpPr>
        <p:spPr>
          <a:xfrm>
            <a:off x="457200" y="292608"/>
            <a:ext cx="26517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POUR LE MANAGER · 4/5</a:t>
            </a:r>
            <a:endParaRPr lang="en-US" sz="1000" dirty="0"/>
          </a:p>
        </p:txBody>
      </p:sp>
      <p:sp>
        <p:nvSpPr>
          <p:cNvPr id="3" name="Text 0"/>
          <p:cNvSpPr/>
          <p:nvPr>
            <p:ph idx="100" type="title" hasCustomPrompt="1"/>
          </p:nvPr>
        </p:nvSpPr>
        <p:spPr>
          <a:xfrm>
            <a:off x="457200" y="685800"/>
            <a:ext cx="8229600" cy="822960"/>
          </a:xfrm>
          <a:prstGeom prst="rect">
            <a:avLst/>
          </a:prstGeom>
          <a:noFill/>
          <a:ln/>
        </p:spPr>
        <p:txBody>
          <a:bodyPr wrap="square" lIns="0" tIns="0" rIns="0" bIns="0" rtlCol="0" anchor="t"/>
          <a:lstStyle/>
          <a:p>
            <a:pPr algn="l" indent="0" marL="0">
              <a:buNone/>
            </a:pPr>
            <a:r>
              <a:rPr lang="en-US" sz="2800" b="1" dirty="0">
                <a:solidFill>
                  <a:schemeClr val="tx2"/>
                </a:solidFill>
              </a:rPr>
              <a:t>Quatre limites à dire au client</a:t>
            </a:r>
            <a:endParaRPr lang="en-US" sz="2800" dirty="0"/>
          </a:p>
        </p:txBody>
      </p:sp>
      <p:sp>
        <p:nvSpPr>
          <p:cNvPr id="5" name="carte-15"/>
          <p:cNvSpPr/>
          <p:nvPr/>
        </p:nvSpPr>
        <p:spPr>
          <a:xfrm>
            <a:off x="457200" y="1645920"/>
            <a:ext cx="3977640" cy="1325880"/>
          </a:xfrm>
          <a:prstGeom prst="roundRect">
            <a:avLst>
              <a:gd name="adj" fmla="val 5517"/>
            </a:avLst>
          </a:prstGeom>
          <a:solidFill>
            <a:schemeClr val="bg2"/>
          </a:solidFill>
          <a:ln w="12700">
            <a:solidFill>
              <a:schemeClr val="bg2"/>
            </a:solidFill>
            <a:prstDash val="solid"/>
          </a:ln>
        </p:spPr>
      </p:sp>
      <p:sp>
        <p:nvSpPr>
          <p:cNvPr id="6" name="carte-texte-16"/>
          <p:cNvSpPr txBox="1"/>
          <p:nvPr/>
        </p:nvSpPr>
        <p:spPr>
          <a:xfrm>
            <a:off x="640080" y="1755648"/>
            <a:ext cx="3611880" cy="1106424"/>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Ni prix ni unité</a:t>
            </a:r>
            <a:endParaRPr lang="en-US" sz="1600" dirty="0"/>
          </a:p>
          <a:p>
            <a:pPr indent="0" marL="0">
              <a:spcAft>
                <a:spcPts val="400"/>
              </a:spcAft>
              <a:buNone/>
            </a:pPr>
            <a:r>
              <a:rPr lang="en-US" sz="1400" dirty="0">
                <a:solidFill>
                  <a:schemeClr val="tx1"/>
                </a:solidFill>
              </a:rPr>
              <a:t>Tout est en quantités : aucun chiffre en euros ni en marge.</a:t>
            </a:r>
            <a:endParaRPr lang="en-US" sz="1600" dirty="0"/>
          </a:p>
        </p:txBody>
      </p:sp>
      <p:sp>
        <p:nvSpPr>
          <p:cNvPr id="7" name="carte-17"/>
          <p:cNvSpPr/>
          <p:nvPr/>
        </p:nvSpPr>
        <p:spPr>
          <a:xfrm>
            <a:off x="4709160" y="1645920"/>
            <a:ext cx="3977640" cy="1325880"/>
          </a:xfrm>
          <a:prstGeom prst="roundRect">
            <a:avLst>
              <a:gd name="adj" fmla="val 5517"/>
            </a:avLst>
          </a:prstGeom>
          <a:solidFill>
            <a:schemeClr val="bg2"/>
          </a:solidFill>
          <a:ln w="12700">
            <a:solidFill>
              <a:schemeClr val="bg2"/>
            </a:solidFill>
            <a:prstDash val="solid"/>
          </a:ln>
        </p:spPr>
      </p:sp>
      <p:sp>
        <p:nvSpPr>
          <p:cNvPr id="8" name="carte-texte-18"/>
          <p:cNvSpPr txBox="1"/>
          <p:nvPr/>
        </p:nvSpPr>
        <p:spPr>
          <a:xfrm>
            <a:off x="4892040" y="1755648"/>
            <a:ext cx="3611880" cy="1106424"/>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Huit groupes seulement</a:t>
            </a:r>
            <a:endParaRPr lang="en-US" sz="1600" dirty="0"/>
          </a:p>
          <a:p>
            <a:pPr indent="0" marL="0">
              <a:spcAft>
                <a:spcPts val="400"/>
              </a:spcAft>
              <a:buNone/>
            </a:pPr>
            <a:r>
              <a:rPr lang="en-US" sz="1400" dirty="0">
                <a:solidFill>
                  <a:schemeClr val="tx1"/>
                </a:solidFill>
              </a:rPr>
              <a:t>Ce n'est pas une vue de toute l'activité de la pharmacie.</a:t>
            </a:r>
            <a:endParaRPr lang="en-US" sz="1600" dirty="0"/>
          </a:p>
        </p:txBody>
      </p:sp>
      <p:sp>
        <p:nvSpPr>
          <p:cNvPr id="9" name="carte-19"/>
          <p:cNvSpPr/>
          <p:nvPr/>
        </p:nvSpPr>
        <p:spPr>
          <a:xfrm>
            <a:off x="457200" y="3246120"/>
            <a:ext cx="3977640" cy="1325880"/>
          </a:xfrm>
          <a:prstGeom prst="roundRect">
            <a:avLst>
              <a:gd name="adj" fmla="val 5517"/>
            </a:avLst>
          </a:prstGeom>
          <a:solidFill>
            <a:schemeClr val="bg2"/>
          </a:solidFill>
          <a:ln w="12700">
            <a:solidFill>
              <a:schemeClr val="bg2"/>
            </a:solidFill>
            <a:prstDash val="solid"/>
          </a:ln>
        </p:spPr>
      </p:sp>
      <p:sp>
        <p:nvSpPr>
          <p:cNvPr id="10" name="carte-texte-20"/>
          <p:cNvSpPr txBox="1"/>
          <p:nvPr/>
        </p:nvSpPr>
        <p:spPr>
          <a:xfrm>
            <a:off x="640080" y="3355848"/>
            <a:ext cx="3611880" cy="1106424"/>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Localisation inconnue</a:t>
            </a:r>
            <a:endParaRPr lang="en-US" sz="1600" dirty="0"/>
          </a:p>
          <a:p>
            <a:pPr indent="0" marL="0">
              <a:spcAft>
                <a:spcPts val="400"/>
              </a:spcAft>
              <a:buNone/>
            </a:pPr>
            <a:r>
              <a:rPr lang="en-US" sz="1400" dirty="0">
                <a:solidFill>
                  <a:schemeClr val="tx1"/>
                </a:solidFill>
              </a:rPr>
              <a:t>La donnée grippe utilisée est nationale, pas régionale.</a:t>
            </a:r>
            <a:endParaRPr lang="en-US" sz="1600" dirty="0"/>
          </a:p>
        </p:txBody>
      </p:sp>
      <p:sp>
        <p:nvSpPr>
          <p:cNvPr id="11" name="carte-21"/>
          <p:cNvSpPr/>
          <p:nvPr/>
        </p:nvSpPr>
        <p:spPr>
          <a:xfrm>
            <a:off x="4709160" y="3246120"/>
            <a:ext cx="3977640" cy="1325880"/>
          </a:xfrm>
          <a:prstGeom prst="roundRect">
            <a:avLst>
              <a:gd name="adj" fmla="val 5517"/>
            </a:avLst>
          </a:prstGeom>
          <a:solidFill>
            <a:schemeClr val="bg2"/>
          </a:solidFill>
          <a:ln w="12700">
            <a:solidFill>
              <a:schemeClr val="bg2"/>
            </a:solidFill>
            <a:prstDash val="solid"/>
          </a:ln>
        </p:spPr>
      </p:sp>
      <p:sp>
        <p:nvSpPr>
          <p:cNvPr id="12" name="carte-texte-22"/>
          <p:cNvSpPr txBox="1"/>
          <p:nvPr/>
        </p:nvSpPr>
        <p:spPr>
          <a:xfrm>
            <a:off x="4892040" y="3355848"/>
            <a:ext cx="3611880" cy="1106424"/>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2017, une année basse</a:t>
            </a:r>
            <a:endParaRPr lang="en-US" sz="1600" dirty="0"/>
          </a:p>
          <a:p>
            <a:pPr indent="0" marL="0">
              <a:spcAft>
                <a:spcPts val="400"/>
              </a:spcAft>
              <a:buNone/>
            </a:pPr>
            <a:r>
              <a:rPr lang="en-US" sz="1400" dirty="0">
                <a:solidFill>
                  <a:schemeClr val="tx1"/>
                </a:solidFill>
              </a:rPr>
              <a:t>Cause inconnue : à demander au client avant de conclure.</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tiquette-23"/>
          <p:cNvSpPr txBox="1"/>
          <p:nvPr/>
        </p:nvSpPr>
        <p:spPr>
          <a:xfrm>
            <a:off x="457200" y="292608"/>
            <a:ext cx="26517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POUR LE MANAGER · 5/5</a:t>
            </a:r>
            <a:endParaRPr lang="en-US" sz="1000" dirty="0"/>
          </a:p>
        </p:txBody>
      </p:sp>
      <p:sp>
        <p:nvSpPr>
          <p:cNvPr id="3" name="Text 0"/>
          <p:cNvSpPr/>
          <p:nvPr>
            <p:ph idx="100" type="title" hasCustomPrompt="1"/>
          </p:nvPr>
        </p:nvSpPr>
        <p:spPr>
          <a:xfrm>
            <a:off x="457200" y="685800"/>
            <a:ext cx="8229600" cy="822960"/>
          </a:xfrm>
          <a:prstGeom prst="rect">
            <a:avLst/>
          </a:prstGeom>
          <a:noFill/>
          <a:ln/>
        </p:spPr>
        <p:txBody>
          <a:bodyPr wrap="square" lIns="0" tIns="0" rIns="0" bIns="0" rtlCol="0" anchor="t"/>
          <a:lstStyle/>
          <a:p>
            <a:pPr algn="l" indent="0" marL="0">
              <a:buNone/>
            </a:pPr>
            <a:r>
              <a:rPr lang="en-US" sz="2800" b="1" dirty="0">
                <a:solidFill>
                  <a:schemeClr val="tx2"/>
                </a:solidFill>
              </a:rPr>
              <a:t>La mission de suivi que nous proposons</a:t>
            </a:r>
            <a:endParaRPr lang="en-US" sz="2800" dirty="0"/>
          </a:p>
        </p:txBody>
      </p:sp>
      <p:sp>
        <p:nvSpPr>
          <p:cNvPr id="5" name="pastille-24"/>
          <p:cNvSpPr txBox="1"/>
          <p:nvPr/>
        </p:nvSpPr>
        <p:spPr>
          <a:xfrm>
            <a:off x="457200" y="1645920"/>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volet-25"/>
          <p:cNvSpPr txBox="1"/>
          <p:nvPr/>
        </p:nvSpPr>
        <p:spPr>
          <a:xfrm>
            <a:off x="457200" y="2194560"/>
            <a:ext cx="2560320" cy="13716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Suivi mensuel</a:t>
            </a:r>
            <a:endParaRPr lang="en-US" sz="1600" dirty="0"/>
          </a:p>
          <a:p>
            <a:pPr indent="0" marL="0">
              <a:spcAft>
                <a:spcPts val="400"/>
              </a:spcAft>
              <a:buNone/>
            </a:pPr>
            <a:r>
              <a:rPr lang="en-US" sz="1400" dirty="0">
                <a:solidFill>
                  <a:schemeClr val="tx1"/>
                </a:solidFill>
              </a:rPr>
              <a:t>Le client envoie ses quatre fichiers, le code régénère le classeur.</a:t>
            </a:r>
            <a:endParaRPr lang="en-US" sz="1600" dirty="0"/>
          </a:p>
        </p:txBody>
      </p:sp>
      <p:sp>
        <p:nvSpPr>
          <p:cNvPr id="7" name="pastille-26"/>
          <p:cNvSpPr txBox="1"/>
          <p:nvPr/>
        </p:nvSpPr>
        <p:spPr>
          <a:xfrm>
            <a:off x="3291840" y="1645920"/>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volet-27"/>
          <p:cNvSpPr txBox="1"/>
          <p:nvPr/>
        </p:nvSpPr>
        <p:spPr>
          <a:xfrm>
            <a:off x="3291840" y="2194560"/>
            <a:ext cx="2560320" cy="13716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Analyse en valeur</a:t>
            </a:r>
            <a:endParaRPr lang="en-US" sz="1600" dirty="0"/>
          </a:p>
          <a:p>
            <a:pPr indent="0" marL="0">
              <a:spcAft>
                <a:spcPts val="400"/>
              </a:spcAft>
              <a:buNone/>
            </a:pPr>
            <a:r>
              <a:rPr lang="en-US" sz="1400" dirty="0">
                <a:solidFill>
                  <a:schemeClr val="tx1"/>
                </a:solidFill>
              </a:rPr>
              <a:t>Avec les prix et les unités : passer des quantités à la marge.</a:t>
            </a:r>
            <a:endParaRPr lang="en-US" sz="1600" dirty="0"/>
          </a:p>
        </p:txBody>
      </p:sp>
      <p:sp>
        <p:nvSpPr>
          <p:cNvPr id="9" name="pastille-28"/>
          <p:cNvSpPr txBox="1"/>
          <p:nvPr/>
        </p:nvSpPr>
        <p:spPr>
          <a:xfrm>
            <a:off x="6126480" y="1645920"/>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0" name="volet-29"/>
          <p:cNvSpPr txBox="1"/>
          <p:nvPr/>
        </p:nvSpPr>
        <p:spPr>
          <a:xfrm>
            <a:off x="6126480" y="2194560"/>
            <a:ext cx="2560320" cy="13716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Prévision élargie</a:t>
            </a:r>
            <a:endParaRPr lang="en-US" sz="1600" dirty="0"/>
          </a:p>
          <a:p>
            <a:pPr indent="0" marL="0">
              <a:spcAft>
                <a:spcPts val="400"/>
              </a:spcAft>
              <a:buNone/>
            </a:pPr>
            <a:r>
              <a:rPr lang="en-US" sz="1400" dirty="0">
                <a:solidFill>
                  <a:schemeClr val="tx1"/>
                </a:solidFill>
              </a:rPr>
              <a:t>Avec la localisation : grippe régionale, météo. Piste à tester.</a:t>
            </a:r>
            <a:endParaRPr lang="en-US" sz="1600" dirty="0"/>
          </a:p>
        </p:txBody>
      </p:sp>
      <p:sp>
        <p:nvSpPr>
          <p:cNvPr id="11" name="bandeau-30"/>
          <p:cNvSpPr txBox="1"/>
          <p:nvPr/>
        </p:nvSpPr>
        <p:spPr>
          <a:xfrm>
            <a:off x="457200" y="3840480"/>
            <a:ext cx="8229600" cy="685800"/>
          </a:xfrm>
          <a:prstGeom prst="roundRect">
            <a:avLst>
              <a:gd name="adj" fmla="val 10667"/>
            </a:avLst>
          </a:prstGeom>
          <a:solidFill>
            <a:schemeClr val="bg2"/>
          </a:solidFill>
          <a:ln>
            <a:solidFill>
              <a:schemeClr val="bg2"/>
            </a:solidFill>
          </a:ln>
        </p:spPr>
        <p:txBody>
          <a:bodyPr wrap="square" lIns="0" tIns="177800" rIns="177800" bIns="0" rtlCol="0" anchor="ctr"/>
          <a:lstStyle/>
          <a:p>
            <a:pPr indent="0" marL="0">
              <a:buNone/>
            </a:pPr>
            <a:r>
              <a:rPr lang="en-US" sz="1400" b="1" dirty="0">
                <a:solidFill>
                  <a:schemeClr val="tx1"/>
                </a:solidFill>
              </a:rPr>
              <a:t>À obtenir du client : </a:t>
            </a:r>
            <a:pPr indent="0" marL="0">
              <a:buNone/>
            </a:pPr>
            <a:r>
              <a:rPr lang="en-US" sz="1400" dirty="0">
                <a:solidFill>
                  <a:schemeClr val="tx1"/>
                </a:solidFill>
              </a:rPr>
              <a:t>prix, unités, adresse, explication de 2017 et du fichier mensuel.</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tiquette-31"/>
          <p:cNvSpPr txBox="1"/>
          <p:nvPr/>
        </p:nvSpPr>
        <p:spPr>
          <a:xfrm>
            <a:off x="457200" y="292608"/>
            <a:ext cx="2651760" cy="292608"/>
          </a:xfrm>
          <a:prstGeom prst="roundRect">
            <a:avLst>
              <a:gd name="adj" fmla="val 50000"/>
            </a:avLst>
          </a:prstGeom>
          <a:solidFill>
            <a:schemeClr val="accent5"/>
          </a:solidFill>
          <a:ln/>
        </p:spPr>
        <p:txBody>
          <a:bodyPr wrap="square" lIns="0" tIns="0" rIns="0" bIns="0" rtlCol="0" anchor="ctr"/>
          <a:lstStyle/>
          <a:p>
            <a:pPr algn="ctr" indent="0" marL="0">
              <a:buNone/>
            </a:pPr>
            <a:r>
              <a:rPr lang="en-US" sz="1000" b="1" dirty="0">
                <a:solidFill>
                  <a:schemeClr val="tx1"/>
                </a:solidFill>
              </a:rPr>
              <a:t>POUR LE PHARMACIEN ACHETEUR · 1/5</a:t>
            </a:r>
            <a:endParaRPr lang="en-US" sz="1000" dirty="0"/>
          </a:p>
        </p:txBody>
      </p:sp>
      <p:sp>
        <p:nvSpPr>
          <p:cNvPr id="3" name="Text 0"/>
          <p:cNvSpPr/>
          <p:nvPr>
            <p:ph idx="100" type="title" hasCustomPrompt="1"/>
          </p:nvPr>
        </p:nvSpPr>
        <p:spPr>
          <a:xfrm>
            <a:off x="457200" y="868680"/>
            <a:ext cx="8229600" cy="1188720"/>
          </a:xfrm>
          <a:prstGeom prst="rect">
            <a:avLst/>
          </a:prstGeom>
          <a:noFill/>
          <a:ln/>
        </p:spPr>
        <p:txBody>
          <a:bodyPr wrap="square" lIns="0" tIns="0" rIns="0" bIns="0" rtlCol="0" anchor="t"/>
          <a:lstStyle/>
          <a:p>
            <a:pPr algn="l" indent="0" marL="0">
              <a:buNone/>
            </a:pPr>
            <a:r>
              <a:rPr lang="en-US" sz="3400" b="1" dirty="0">
                <a:solidFill>
                  <a:schemeClr val="bg1"/>
                </a:solidFill>
              </a:rPr>
              <a:t>Vos commandes : quoi anticiper, et quand</a:t>
            </a:r>
            <a:endParaRPr lang="en-US" sz="3400" dirty="0"/>
          </a:p>
        </p:txBody>
      </p:sp>
      <p:sp>
        <p:nvSpPr>
          <p:cNvPr id="5" name="Text 0"/>
          <p:cNvSpPr/>
          <p:nvPr>
            <p:ph idx="101" type="body" hasCustomPrompt="1"/>
          </p:nvPr>
        </p:nvSpPr>
        <p:spPr>
          <a:xfrm>
            <a:off x="457200" y="2103120"/>
            <a:ext cx="8229600" cy="548640"/>
          </a:xfrm>
          <a:prstGeom prst="rect">
            <a:avLst/>
          </a:prstGeom>
          <a:noFill/>
          <a:ln/>
        </p:spPr>
        <p:txBody>
          <a:bodyPr wrap="square" lIns="0" tIns="0" rIns="0" bIns="0" rtlCol="0" anchor="t"/>
          <a:lstStyle/>
          <a:p>
            <a:pPr algn="l" indent="0" marL="0">
              <a:buNone/>
            </a:pPr>
            <a:r>
              <a:rPr lang="en-US" sz="1600" dirty="0">
                <a:solidFill>
                  <a:schemeClr val="bg2"/>
                </a:solidFill>
              </a:rPr>
              <a:t>Ce que six ans de ventes disent sur vos huit groupes de médicaments</a:t>
            </a:r>
            <a:endParaRPr lang="en-US" sz="1600" dirty="0"/>
          </a:p>
        </p:txBody>
      </p:sp>
      <p:sp>
        <p:nvSpPr>
          <p:cNvPr id="6" name="chiffre-32"/>
          <p:cNvSpPr txBox="1"/>
          <p:nvPr/>
        </p:nvSpPr>
        <p:spPr>
          <a:xfrm>
            <a:off x="457200" y="2880360"/>
            <a:ext cx="2468880" cy="731520"/>
          </a:xfrm>
          <a:prstGeom prst="rect">
            <a:avLst/>
          </a:prstGeom>
          <a:noFill/>
          <a:ln/>
        </p:spPr>
        <p:txBody>
          <a:bodyPr wrap="square" lIns="0" tIns="0" rIns="0" bIns="0" rtlCol="0" anchor="ctr"/>
          <a:lstStyle/>
          <a:p>
            <a:pPr indent="0" marL="0">
              <a:buNone/>
            </a:pPr>
            <a:r>
              <a:rPr lang="en-US" sz="4400" b="1" dirty="0">
                <a:solidFill>
                  <a:schemeClr val="accent5"/>
                </a:solidFill>
                <a:latin typeface="Cambria" pitchFamily="34" charset="0"/>
                <a:ea typeface="Cambria" pitchFamily="34" charset="-122"/>
                <a:cs typeface="Cambria" pitchFamily="34" charset="-120"/>
              </a:rPr>
              <a:t>× 3</a:t>
            </a:r>
            <a:endParaRPr lang="en-US" sz="4400" dirty="0"/>
          </a:p>
        </p:txBody>
      </p:sp>
      <p:sp>
        <p:nvSpPr>
          <p:cNvPr id="7" name="libelle-33"/>
          <p:cNvSpPr txBox="1"/>
          <p:nvPr/>
        </p:nvSpPr>
        <p:spPr>
          <a:xfrm>
            <a:off x="457200" y="3657600"/>
            <a:ext cx="2468880" cy="731520"/>
          </a:xfrm>
          <a:prstGeom prst="rect">
            <a:avLst/>
          </a:prstGeom>
          <a:noFill/>
          <a:ln/>
        </p:spPr>
        <p:txBody>
          <a:bodyPr wrap="square" lIns="0" tIns="0" rIns="0" bIns="0" rtlCol="0" anchor="t"/>
          <a:lstStyle/>
          <a:p>
            <a:pPr indent="0" marL="0">
              <a:buNone/>
            </a:pPr>
            <a:r>
              <a:rPr lang="en-US" sz="1400" dirty="0">
                <a:solidFill>
                  <a:schemeClr val="bg1"/>
                </a:solidFill>
              </a:rPr>
              <a:t>d'antihistaminiques en mai par rapport à janvier</a:t>
            </a:r>
            <a:endParaRPr lang="en-US" sz="1400" dirty="0"/>
          </a:p>
        </p:txBody>
      </p:sp>
      <p:sp>
        <p:nvSpPr>
          <p:cNvPr id="8" name="chiffre-34"/>
          <p:cNvSpPr txBox="1"/>
          <p:nvPr/>
        </p:nvSpPr>
        <p:spPr>
          <a:xfrm>
            <a:off x="3337560" y="2880360"/>
            <a:ext cx="2468880" cy="731520"/>
          </a:xfrm>
          <a:prstGeom prst="rect">
            <a:avLst/>
          </a:prstGeom>
          <a:noFill/>
          <a:ln/>
        </p:spPr>
        <p:txBody>
          <a:bodyPr wrap="square" lIns="0" tIns="0" rIns="0" bIns="0" rtlCol="0" anchor="ctr"/>
          <a:lstStyle/>
          <a:p>
            <a:pPr indent="0" marL="0">
              <a:buNone/>
            </a:pPr>
            <a:r>
              <a:rPr lang="en-US" sz="4400" b="1" dirty="0">
                <a:solidFill>
                  <a:schemeClr val="accent5"/>
                </a:solidFill>
                <a:latin typeface="Cambria" pitchFamily="34" charset="0"/>
                <a:ea typeface="Cambria" pitchFamily="34" charset="-122"/>
                <a:cs typeface="Cambria" pitchFamily="34" charset="-120"/>
              </a:rPr>
              <a:t>+46 %</a:t>
            </a:r>
            <a:endParaRPr lang="en-US" sz="4400" dirty="0"/>
          </a:p>
        </p:txBody>
      </p:sp>
      <p:sp>
        <p:nvSpPr>
          <p:cNvPr id="9" name="libelle-35"/>
          <p:cNvSpPr txBox="1"/>
          <p:nvPr/>
        </p:nvSpPr>
        <p:spPr>
          <a:xfrm>
            <a:off x="3337560" y="3657600"/>
            <a:ext cx="2468880" cy="731520"/>
          </a:xfrm>
          <a:prstGeom prst="rect">
            <a:avLst/>
          </a:prstGeom>
          <a:noFill/>
          <a:ln/>
        </p:spPr>
        <p:txBody>
          <a:bodyPr wrap="square" lIns="0" tIns="0" rIns="0" bIns="0" rtlCol="0" anchor="t"/>
          <a:lstStyle/>
          <a:p>
            <a:pPr indent="0" marL="0">
              <a:buNone/>
            </a:pPr>
            <a:r>
              <a:rPr lang="en-US" sz="1400" dirty="0">
                <a:solidFill>
                  <a:schemeClr val="bg1"/>
                </a:solidFill>
              </a:rPr>
              <a:t>de paracétamol les semaines de forte grippe</a:t>
            </a:r>
            <a:endParaRPr lang="en-US" sz="1400" dirty="0"/>
          </a:p>
        </p:txBody>
      </p:sp>
      <p:sp>
        <p:nvSpPr>
          <p:cNvPr id="10" name="chiffre-36"/>
          <p:cNvSpPr txBox="1"/>
          <p:nvPr/>
        </p:nvSpPr>
        <p:spPr>
          <a:xfrm>
            <a:off x="6217920" y="2880360"/>
            <a:ext cx="2468880" cy="731520"/>
          </a:xfrm>
          <a:prstGeom prst="rect">
            <a:avLst/>
          </a:prstGeom>
          <a:noFill/>
          <a:ln/>
        </p:spPr>
        <p:txBody>
          <a:bodyPr wrap="square" lIns="0" tIns="0" rIns="0" bIns="0" rtlCol="0" anchor="ctr"/>
          <a:lstStyle/>
          <a:p>
            <a:pPr indent="0" marL="0">
              <a:buNone/>
            </a:pPr>
            <a:r>
              <a:rPr lang="en-US" sz="4400" b="1" dirty="0">
                <a:solidFill>
                  <a:schemeClr val="accent5"/>
                </a:solidFill>
                <a:latin typeface="Cambria" pitchFamily="34" charset="0"/>
                <a:ea typeface="Cambria" pitchFamily="34" charset="-122"/>
                <a:cs typeface="Cambria" pitchFamily="34" charset="-120"/>
              </a:rPr>
              <a:t>−35 %</a:t>
            </a:r>
            <a:endParaRPr lang="en-US" sz="4400" dirty="0"/>
          </a:p>
        </p:txBody>
      </p:sp>
      <p:sp>
        <p:nvSpPr>
          <p:cNvPr id="11" name="libelle-37"/>
          <p:cNvSpPr txBox="1"/>
          <p:nvPr/>
        </p:nvSpPr>
        <p:spPr>
          <a:xfrm>
            <a:off x="6217920" y="3657600"/>
            <a:ext cx="2468880" cy="731520"/>
          </a:xfrm>
          <a:prstGeom prst="rect">
            <a:avLst/>
          </a:prstGeom>
          <a:noFill/>
          <a:ln/>
        </p:spPr>
        <p:txBody>
          <a:bodyPr wrap="square" lIns="0" tIns="0" rIns="0" bIns="0" rtlCol="0" anchor="t"/>
          <a:lstStyle/>
          <a:p>
            <a:pPr indent="0" marL="0">
              <a:buNone/>
            </a:pPr>
            <a:r>
              <a:rPr lang="en-US" sz="1400" dirty="0">
                <a:solidFill>
                  <a:schemeClr val="bg1"/>
                </a:solidFill>
              </a:rPr>
              <a:t>d'anxiolytiques le dimanche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tiquette-38"/>
          <p:cNvSpPr txBox="1"/>
          <p:nvPr/>
        </p:nvSpPr>
        <p:spPr>
          <a:xfrm>
            <a:off x="457200" y="292608"/>
            <a:ext cx="26517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POUR LE PHARMACIEN ACHETEUR · 2/5</a:t>
            </a:r>
            <a:endParaRPr lang="en-US" sz="1000" dirty="0"/>
          </a:p>
        </p:txBody>
      </p:sp>
      <p:sp>
        <p:nvSpPr>
          <p:cNvPr id="3" name="Text 0"/>
          <p:cNvSpPr/>
          <p:nvPr>
            <p:ph idx="100" type="title" hasCustomPrompt="1"/>
          </p:nvPr>
        </p:nvSpPr>
        <p:spPr>
          <a:xfrm>
            <a:off x="457200" y="685800"/>
            <a:ext cx="8229600" cy="822960"/>
          </a:xfrm>
          <a:prstGeom prst="rect">
            <a:avLst/>
          </a:prstGeom>
          <a:noFill/>
          <a:ln/>
        </p:spPr>
        <p:txBody>
          <a:bodyPr wrap="square" lIns="0" tIns="0" rIns="0" bIns="0" rtlCol="0" anchor="t"/>
          <a:lstStyle/>
          <a:p>
            <a:pPr algn="l" indent="0" marL="0">
              <a:buNone/>
            </a:pPr>
            <a:r>
              <a:rPr lang="en-US" sz="2800" b="1" dirty="0">
                <a:solidFill>
                  <a:schemeClr val="tx2"/>
                </a:solidFill>
              </a:rPr>
              <a:t>Chaque groupe a sa saison</a:t>
            </a:r>
            <a:endParaRPr lang="en-US" sz="2800" dirty="0"/>
          </a:p>
        </p:txBody>
      </p:sp>
      <p:graphicFrame>
        <p:nvGraphicFramePr>
          <p:cNvPr id="8" name="tableau-39"/>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2194560"/>
                <a:gridCol w="502920"/>
                <a:gridCol w="502920"/>
                <a:gridCol w="502920"/>
                <a:gridCol w="502920"/>
                <a:gridCol w="502920"/>
                <a:gridCol w="502920"/>
                <a:gridCol w="502920"/>
                <a:gridCol w="502920"/>
                <a:gridCol w="502920"/>
                <a:gridCol w="502920"/>
                <a:gridCol w="502920"/>
                <a:gridCol w="502920"/>
              </a:tblGrid>
              <a:tr h="292608">
                <a:tc>
                  <a:txBody>
                    <a:bodyPr/>
                    <a:lstStyle/>
                    <a:p>
                      <a:pPr algn="l" indent="0" marL="0">
                        <a:buNone/>
                      </a:pPr>
                      <a:r>
                        <a:rPr lang="en-US" sz="1100" b="1" dirty="0">
                          <a:solidFill>
                            <a:srgbClr val="FFFFFF"/>
                          </a:solidFill>
                        </a:rPr>
                        <a:t>Indice (100 = mois moyen)</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0B5D4E"/>
                    </a:solidFill>
                  </a:tcPr>
                </a:tc>
                <a:tc>
                  <a:txBody>
                    <a:bodyPr/>
                    <a:lstStyle/>
                    <a:p>
                      <a:pPr algn="ctr" indent="0" marL="0">
                        <a:buNone/>
                      </a:pPr>
                      <a:r>
                        <a:rPr lang="en-US" sz="1100" b="1" dirty="0">
                          <a:solidFill>
                            <a:srgbClr val="FFFFFF"/>
                          </a:solidFill>
                        </a:rPr>
                        <a:t>J</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0B5D4E"/>
                    </a:solidFill>
                  </a:tcPr>
                </a:tc>
                <a:tc>
                  <a:txBody>
                    <a:bodyPr/>
                    <a:lstStyle/>
                    <a:p>
                      <a:pPr algn="ctr" indent="0" marL="0">
                        <a:buNone/>
                      </a:pPr>
                      <a:r>
                        <a:rPr lang="en-US" sz="1100" b="1" dirty="0">
                          <a:solidFill>
                            <a:srgbClr val="FFFFFF"/>
                          </a:solidFill>
                        </a:rPr>
                        <a:t>F</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0B5D4E"/>
                    </a:solidFill>
                  </a:tcPr>
                </a:tc>
                <a:tc>
                  <a:txBody>
                    <a:bodyPr/>
                    <a:lstStyle/>
                    <a:p>
                      <a:pPr algn="ctr" indent="0" marL="0">
                        <a:buNone/>
                      </a:pPr>
                      <a:r>
                        <a:rPr lang="en-US" sz="1100" b="1" dirty="0">
                          <a:solidFill>
                            <a:srgbClr val="FFFFFF"/>
                          </a:solidFill>
                        </a:rPr>
                        <a:t>M</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0B5D4E"/>
                    </a:solidFill>
                  </a:tcPr>
                </a:tc>
                <a:tc>
                  <a:txBody>
                    <a:bodyPr/>
                    <a:lstStyle/>
                    <a:p>
                      <a:pPr algn="ctr" indent="0" marL="0">
                        <a:buNone/>
                      </a:pPr>
                      <a:r>
                        <a:rPr lang="en-US" sz="1100" b="1" dirty="0">
                          <a:solidFill>
                            <a:srgbClr val="FFFFFF"/>
                          </a:solidFill>
                        </a:rPr>
                        <a:t>A</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0B5D4E"/>
                    </a:solidFill>
                  </a:tcPr>
                </a:tc>
                <a:tc>
                  <a:txBody>
                    <a:bodyPr/>
                    <a:lstStyle/>
                    <a:p>
                      <a:pPr algn="ctr" indent="0" marL="0">
                        <a:buNone/>
                      </a:pPr>
                      <a:r>
                        <a:rPr lang="en-US" sz="1100" b="1" dirty="0">
                          <a:solidFill>
                            <a:srgbClr val="FFFFFF"/>
                          </a:solidFill>
                        </a:rPr>
                        <a:t>M</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0B5D4E"/>
                    </a:solidFill>
                  </a:tcPr>
                </a:tc>
                <a:tc>
                  <a:txBody>
                    <a:bodyPr/>
                    <a:lstStyle/>
                    <a:p>
                      <a:pPr algn="ctr" indent="0" marL="0">
                        <a:buNone/>
                      </a:pPr>
                      <a:r>
                        <a:rPr lang="en-US" sz="1100" b="1" dirty="0">
                          <a:solidFill>
                            <a:srgbClr val="FFFFFF"/>
                          </a:solidFill>
                        </a:rPr>
                        <a:t>J</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0B5D4E"/>
                    </a:solidFill>
                  </a:tcPr>
                </a:tc>
                <a:tc>
                  <a:txBody>
                    <a:bodyPr/>
                    <a:lstStyle/>
                    <a:p>
                      <a:pPr algn="ctr" indent="0" marL="0">
                        <a:buNone/>
                      </a:pPr>
                      <a:r>
                        <a:rPr lang="en-US" sz="1100" b="1" dirty="0">
                          <a:solidFill>
                            <a:srgbClr val="FFFFFF"/>
                          </a:solidFill>
                        </a:rPr>
                        <a:t>J</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0B5D4E"/>
                    </a:solidFill>
                  </a:tcPr>
                </a:tc>
                <a:tc>
                  <a:txBody>
                    <a:bodyPr/>
                    <a:lstStyle/>
                    <a:p>
                      <a:pPr algn="ctr" indent="0" marL="0">
                        <a:buNone/>
                      </a:pPr>
                      <a:r>
                        <a:rPr lang="en-US" sz="1100" b="1" dirty="0">
                          <a:solidFill>
                            <a:srgbClr val="FFFFFF"/>
                          </a:solidFill>
                        </a:rPr>
                        <a:t>A</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0B5D4E"/>
                    </a:solidFill>
                  </a:tcPr>
                </a:tc>
                <a:tc>
                  <a:txBody>
                    <a:bodyPr/>
                    <a:lstStyle/>
                    <a:p>
                      <a:pPr algn="ctr" indent="0" marL="0">
                        <a:buNone/>
                      </a:pPr>
                      <a:r>
                        <a:rPr lang="en-US" sz="1100" b="1" dirty="0">
                          <a:solidFill>
                            <a:srgbClr val="FFFFFF"/>
                          </a:solidFill>
                        </a:rPr>
                        <a:t>S</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0B5D4E"/>
                    </a:solidFill>
                  </a:tcPr>
                </a:tc>
                <a:tc>
                  <a:txBody>
                    <a:bodyPr/>
                    <a:lstStyle/>
                    <a:p>
                      <a:pPr algn="ctr" indent="0" marL="0">
                        <a:buNone/>
                      </a:pPr>
                      <a:r>
                        <a:rPr lang="en-US" sz="1100" b="1" dirty="0">
                          <a:solidFill>
                            <a:srgbClr val="FFFFFF"/>
                          </a:solidFill>
                        </a:rPr>
                        <a:t>O</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0B5D4E"/>
                    </a:solidFill>
                  </a:tcPr>
                </a:tc>
                <a:tc>
                  <a:txBody>
                    <a:bodyPr/>
                    <a:lstStyle/>
                    <a:p>
                      <a:pPr algn="ctr" indent="0" marL="0">
                        <a:buNone/>
                      </a:pPr>
                      <a:r>
                        <a:rPr lang="en-US" sz="1100" b="1" dirty="0">
                          <a:solidFill>
                            <a:srgbClr val="FFFFFF"/>
                          </a:solidFill>
                        </a:rPr>
                        <a:t>N</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0B5D4E"/>
                    </a:solidFill>
                  </a:tcPr>
                </a:tc>
                <a:tc>
                  <a:txBody>
                    <a:bodyPr/>
                    <a:lstStyle/>
                    <a:p>
                      <a:pPr algn="ctr" indent="0" marL="0">
                        <a:buNone/>
                      </a:pPr>
                      <a:r>
                        <a:rPr lang="en-US" sz="1100" b="1" dirty="0">
                          <a:solidFill>
                            <a:srgbClr val="FFFFFF"/>
                          </a:solidFill>
                        </a:rPr>
                        <a:t>D</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0B5D4E"/>
                    </a:solidFill>
                  </a:tcPr>
                </a:tc>
              </a:tr>
              <a:tr h="292608">
                <a:tc>
                  <a:txBody>
                    <a:bodyPr/>
                    <a:lstStyle/>
                    <a:p>
                      <a:pPr algn="l" indent="0" marL="0">
                        <a:buNone/>
                      </a:pPr>
                      <a:r>
                        <a:rPr lang="en-US" sz="1100" b="1" dirty="0">
                          <a:solidFill>
                            <a:srgbClr val="1B2A2F"/>
                          </a:solidFill>
                        </a:rPr>
                        <a:t>Antihistaminiques</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algn="ctr" indent="0" marL="0">
                        <a:buNone/>
                      </a:pPr>
                      <a:r>
                        <a:rPr lang="en-US" sz="1100" b="1" dirty="0">
                          <a:solidFill>
                            <a:srgbClr val="FFFFFF"/>
                          </a:solidFill>
                        </a:rPr>
                        <a:t>56</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2FA58A"/>
                    </a:solidFill>
                  </a:tcPr>
                </a:tc>
                <a:tc>
                  <a:txBody>
                    <a:bodyPr/>
                    <a:lstStyle/>
                    <a:p>
                      <a:pPr algn="ctr" indent="0" marL="0">
                        <a:buNone/>
                      </a:pPr>
                      <a:r>
                        <a:rPr lang="en-US" sz="1100" b="1" dirty="0">
                          <a:solidFill>
                            <a:srgbClr val="FFFFFF"/>
                          </a:solidFill>
                        </a:rPr>
                        <a:t>54</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2FA58A"/>
                    </a:solidFill>
                  </a:tcPr>
                </a:tc>
                <a:tc>
                  <a:txBody>
                    <a:bodyPr/>
                    <a:lstStyle/>
                    <a:p>
                      <a:pPr algn="ctr" indent="0" marL="0">
                        <a:buNone/>
                      </a:pPr>
                      <a:r>
                        <a:rPr lang="en-US" sz="1100" dirty="0">
                          <a:solidFill>
                            <a:srgbClr val="1B2A2F"/>
                          </a:solidFill>
                        </a:rPr>
                        <a:t>113</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6C3AE"/>
                    </a:solidFill>
                  </a:tcPr>
                </a:tc>
                <a:tc>
                  <a:txBody>
                    <a:bodyPr/>
                    <a:lstStyle/>
                    <a:p>
                      <a:pPr algn="ctr" indent="0" marL="0">
                        <a:buNone/>
                      </a:pPr>
                      <a:r>
                        <a:rPr lang="en-US" sz="1100" b="1" dirty="0">
                          <a:solidFill>
                            <a:srgbClr val="FFFFFF"/>
                          </a:solidFill>
                        </a:rPr>
                        <a:t>168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E8704A"/>
                    </a:solidFill>
                  </a:tcPr>
                </a:tc>
                <a:tc>
                  <a:txBody>
                    <a:bodyPr/>
                    <a:lstStyle/>
                    <a:p>
                      <a:pPr algn="ctr" indent="0" marL="0">
                        <a:buNone/>
                      </a:pPr>
                      <a:r>
                        <a:rPr lang="en-US" sz="1100" b="1" dirty="0">
                          <a:solidFill>
                            <a:srgbClr val="FFFFFF"/>
                          </a:solidFill>
                        </a:rPr>
                        <a:t>179</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E8704A"/>
                    </a:solidFill>
                  </a:tcPr>
                </a:tc>
                <a:tc>
                  <a:txBody>
                    <a:bodyPr/>
                    <a:lstStyle/>
                    <a:p>
                      <a:pPr algn="ctr" indent="0" marL="0">
                        <a:buNone/>
                      </a:pPr>
                      <a:r>
                        <a:rPr lang="en-US" sz="1100" b="1" dirty="0">
                          <a:solidFill>
                            <a:srgbClr val="FFFFFF"/>
                          </a:solidFill>
                        </a:rPr>
                        <a:t>152</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E8704A"/>
                    </a:solidFill>
                  </a:tcPr>
                </a:tc>
                <a:tc>
                  <a:txBody>
                    <a:bodyPr/>
                    <a:lstStyle/>
                    <a:p>
                      <a:pPr algn="ctr" indent="0" marL="0">
                        <a:buNone/>
                      </a:pPr>
                      <a:r>
                        <a:rPr lang="en-US" sz="1100" dirty="0">
                          <a:solidFill>
                            <a:srgbClr val="1B2A2F"/>
                          </a:solidFill>
                        </a:rPr>
                        <a:t>119</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6C3AE"/>
                    </a:solidFill>
                  </a:tcPr>
                </a:tc>
                <a:tc>
                  <a:txBody>
                    <a:bodyPr/>
                    <a:lstStyle/>
                    <a:p>
                      <a:pPr algn="ctr" indent="0" marL="0">
                        <a:buNone/>
                      </a:pPr>
                      <a:r>
                        <a:rPr lang="en-US" sz="1100" dirty="0">
                          <a:solidFill>
                            <a:srgbClr val="1B2A2F"/>
                          </a:solidFill>
                        </a:rPr>
                        <a:t>95</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88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BFE3D8"/>
                    </a:solidFill>
                  </a:tcPr>
                </a:tc>
                <a:tc>
                  <a:txBody>
                    <a:bodyPr/>
                    <a:lstStyle/>
                    <a:p>
                      <a:pPr algn="ctr" indent="0" marL="0">
                        <a:buNone/>
                      </a:pPr>
                      <a:r>
                        <a:rPr lang="en-US" sz="1100" b="1" dirty="0">
                          <a:solidFill>
                            <a:srgbClr val="FFFFFF"/>
                          </a:solidFill>
                        </a:rPr>
                        <a:t>70</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2FA58A"/>
                    </a:solidFill>
                  </a:tcPr>
                </a:tc>
                <a:tc>
                  <a:txBody>
                    <a:bodyPr/>
                    <a:lstStyle/>
                    <a:p>
                      <a:pPr algn="ctr" indent="0" marL="0">
                        <a:buNone/>
                      </a:pPr>
                      <a:r>
                        <a:rPr lang="en-US" sz="1100" b="1" dirty="0">
                          <a:solidFill>
                            <a:srgbClr val="FFFFFF"/>
                          </a:solidFill>
                        </a:rPr>
                        <a:t>54</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2FA58A"/>
                    </a:solidFill>
                  </a:tcPr>
                </a:tc>
                <a:tc>
                  <a:txBody>
                    <a:bodyPr/>
                    <a:lstStyle/>
                    <a:p>
                      <a:pPr algn="ctr" indent="0" marL="0">
                        <a:buNone/>
                      </a:pPr>
                      <a:r>
                        <a:rPr lang="en-US" sz="1100" b="1" dirty="0">
                          <a:solidFill>
                            <a:srgbClr val="FFFFFF"/>
                          </a:solidFill>
                        </a:rPr>
                        <a:t>52</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2FA58A"/>
                    </a:solidFill>
                  </a:tcPr>
                </a:tc>
              </a:tr>
              <a:tr h="292608">
                <a:tc>
                  <a:txBody>
                    <a:bodyPr/>
                    <a:lstStyle/>
                    <a:p>
                      <a:pPr algn="l" indent="0" marL="0">
                        <a:buNone/>
                      </a:pPr>
                      <a:r>
                        <a:rPr lang="en-US" sz="1100" b="1" dirty="0">
                          <a:solidFill>
                            <a:srgbClr val="1B2A2F"/>
                          </a:solidFill>
                        </a:rPr>
                        <a:t>Paracétamol</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algn="ctr" indent="0" marL="0">
                        <a:buNone/>
                      </a:pPr>
                      <a:r>
                        <a:rPr lang="en-US" sz="1100" b="1" dirty="0">
                          <a:solidFill>
                            <a:srgbClr val="FFFFFF"/>
                          </a:solidFill>
                        </a:rPr>
                        <a:t>154</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E8704A"/>
                    </a:solidFill>
                  </a:tcPr>
                </a:tc>
                <a:tc>
                  <a:txBody>
                    <a:bodyPr/>
                    <a:lstStyle/>
                    <a:p>
                      <a:pPr algn="ctr" indent="0" marL="0">
                        <a:buNone/>
                      </a:pPr>
                      <a:r>
                        <a:rPr lang="en-US" sz="1100" dirty="0">
                          <a:solidFill>
                            <a:srgbClr val="1B2A2F"/>
                          </a:solidFill>
                        </a:rPr>
                        <a:t>109</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85</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BFE3D8"/>
                    </a:solidFill>
                  </a:tcPr>
                </a:tc>
                <a:tc>
                  <a:txBody>
                    <a:bodyPr/>
                    <a:lstStyle/>
                    <a:p>
                      <a:pPr algn="ctr" indent="0" marL="0">
                        <a:buNone/>
                      </a:pPr>
                      <a:r>
                        <a:rPr lang="en-US" sz="1100" dirty="0">
                          <a:solidFill>
                            <a:srgbClr val="1B2A2F"/>
                          </a:solidFill>
                        </a:rPr>
                        <a:t>76</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BFE3D8"/>
                    </a:solidFill>
                  </a:tcPr>
                </a:tc>
                <a:tc>
                  <a:txBody>
                    <a:bodyPr/>
                    <a:lstStyle/>
                    <a:p>
                      <a:pPr algn="ctr" indent="0" marL="0">
                        <a:buNone/>
                      </a:pPr>
                      <a:r>
                        <a:rPr lang="en-US" sz="1100" b="1" dirty="0">
                          <a:solidFill>
                            <a:srgbClr val="FFFFFF"/>
                          </a:solidFill>
                        </a:rPr>
                        <a:t>66</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2FA58A"/>
                    </a:solidFill>
                  </a:tcPr>
                </a:tc>
                <a:tc>
                  <a:txBody>
                    <a:bodyPr/>
                    <a:lstStyle/>
                    <a:p>
                      <a:pPr algn="ctr" indent="0" marL="0">
                        <a:buNone/>
                      </a:pPr>
                      <a:r>
                        <a:rPr lang="en-US" sz="1100" b="1" dirty="0">
                          <a:solidFill>
                            <a:srgbClr val="FFFFFF"/>
                          </a:solidFill>
                        </a:rPr>
                        <a:t>64</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2FA58A"/>
                    </a:solidFill>
                  </a:tcPr>
                </a:tc>
                <a:tc>
                  <a:txBody>
                    <a:bodyPr/>
                    <a:lstStyle/>
                    <a:p>
                      <a:pPr algn="ctr" indent="0" marL="0">
                        <a:buNone/>
                      </a:pPr>
                      <a:r>
                        <a:rPr lang="en-US" sz="1100" b="1" dirty="0">
                          <a:solidFill>
                            <a:srgbClr val="FFFFFF"/>
                          </a:solidFill>
                        </a:rPr>
                        <a:t>68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2FA58A"/>
                    </a:solidFill>
                  </a:tcPr>
                </a:tc>
                <a:tc>
                  <a:txBody>
                    <a:bodyPr/>
                    <a:lstStyle/>
                    <a:p>
                      <a:pPr algn="ctr" indent="0" marL="0">
                        <a:buNone/>
                      </a:pPr>
                      <a:r>
                        <a:rPr lang="en-US" sz="1100" dirty="0">
                          <a:solidFill>
                            <a:srgbClr val="1B2A2F"/>
                          </a:solidFill>
                        </a:rPr>
                        <a:t>102</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rPr>
                        <a:t>139</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E8704A"/>
                    </a:solidFill>
                  </a:tcPr>
                </a:tc>
                <a:tc>
                  <a:txBody>
                    <a:bodyPr/>
                    <a:lstStyle/>
                    <a:p>
                      <a:pPr algn="ctr" indent="0" marL="0">
                        <a:buNone/>
                      </a:pPr>
                      <a:r>
                        <a:rPr lang="en-US" sz="1100" dirty="0">
                          <a:solidFill>
                            <a:srgbClr val="1B2A2F"/>
                          </a:solidFill>
                        </a:rPr>
                        <a:t>103</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rPr>
                        <a:t>136</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E8704A"/>
                    </a:solidFill>
                  </a:tcPr>
                </a:tc>
              </a:tr>
              <a:tr h="292608">
                <a:tc>
                  <a:txBody>
                    <a:bodyPr/>
                    <a:lstStyle/>
                    <a:p>
                      <a:pPr algn="l" indent="0" marL="0">
                        <a:buNone/>
                      </a:pPr>
                      <a:r>
                        <a:rPr lang="en-US" sz="1100" b="1" dirty="0">
                          <a:solidFill>
                            <a:srgbClr val="1B2A2F"/>
                          </a:solidFill>
                        </a:rPr>
                        <a:t>Antiasthmatiques</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algn="ctr" indent="0" marL="0">
                        <a:buNone/>
                      </a:pPr>
                      <a:r>
                        <a:rPr lang="en-US" sz="1100" b="1" dirty="0">
                          <a:solidFill>
                            <a:srgbClr val="FFFFFF"/>
                          </a:solidFill>
                        </a:rPr>
                        <a:t>139</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E8704A"/>
                    </a:solidFill>
                  </a:tcPr>
                </a:tc>
                <a:tc>
                  <a:txBody>
                    <a:bodyPr/>
                    <a:lstStyle/>
                    <a:p>
                      <a:pPr algn="ctr" indent="0" marL="0">
                        <a:buNone/>
                      </a:pPr>
                      <a:r>
                        <a:rPr lang="en-US" sz="1100" dirty="0">
                          <a:solidFill>
                            <a:srgbClr val="1B2A2F"/>
                          </a:solidFill>
                        </a:rPr>
                        <a:t>110</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112</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6C3AE"/>
                    </a:solidFill>
                  </a:tcPr>
                </a:tc>
                <a:tc>
                  <a:txBody>
                    <a:bodyPr/>
                    <a:lstStyle/>
                    <a:p>
                      <a:pPr algn="ctr" indent="0" marL="0">
                        <a:buNone/>
                      </a:pPr>
                      <a:r>
                        <a:rPr lang="en-US" sz="1100" dirty="0">
                          <a:solidFill>
                            <a:srgbClr val="1B2A2F"/>
                          </a:solidFill>
                        </a:rPr>
                        <a:t>101</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90</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75</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BFE3D8"/>
                    </a:solidFill>
                  </a:tcPr>
                </a:tc>
                <a:tc>
                  <a:txBody>
                    <a:bodyPr/>
                    <a:lstStyle/>
                    <a:p>
                      <a:pPr algn="ctr" indent="0" marL="0">
                        <a:buNone/>
                      </a:pPr>
                      <a:r>
                        <a:rPr lang="en-US" sz="1100" b="1" dirty="0">
                          <a:solidFill>
                            <a:srgbClr val="FFFFFF"/>
                          </a:solidFill>
                        </a:rPr>
                        <a:t>53</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2FA58A"/>
                    </a:solidFill>
                  </a:tcPr>
                </a:tc>
                <a:tc>
                  <a:txBody>
                    <a:bodyPr/>
                    <a:lstStyle/>
                    <a:p>
                      <a:pPr algn="ctr" indent="0" marL="0">
                        <a:buNone/>
                      </a:pPr>
                      <a:r>
                        <a:rPr lang="en-US" sz="1100" b="1" dirty="0">
                          <a:solidFill>
                            <a:srgbClr val="FFFFFF"/>
                          </a:solidFill>
                        </a:rPr>
                        <a:t>55</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2FA58A"/>
                    </a:solidFill>
                  </a:tcPr>
                </a:tc>
                <a:tc>
                  <a:txBody>
                    <a:bodyPr/>
                    <a:lstStyle/>
                    <a:p>
                      <a:pPr algn="ctr" indent="0" marL="0">
                        <a:buNone/>
                      </a:pPr>
                      <a:r>
                        <a:rPr lang="en-US" sz="1100" dirty="0">
                          <a:solidFill>
                            <a:srgbClr val="1B2A2F"/>
                          </a:solidFill>
                        </a:rPr>
                        <a:t>76</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BFE3D8"/>
                    </a:solidFill>
                  </a:tcPr>
                </a:tc>
                <a:tc>
                  <a:txBody>
                    <a:bodyPr/>
                    <a:lstStyle/>
                    <a:p>
                      <a:pPr algn="ctr" indent="0" marL="0">
                        <a:buNone/>
                      </a:pPr>
                      <a:r>
                        <a:rPr lang="en-US" sz="1100" b="1" dirty="0">
                          <a:solidFill>
                            <a:srgbClr val="FFFFFF"/>
                          </a:solidFill>
                        </a:rPr>
                        <a:t>131</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E8704A"/>
                    </a:solidFill>
                  </a:tcPr>
                </a:tc>
                <a:tc>
                  <a:txBody>
                    <a:bodyPr/>
                    <a:lstStyle/>
                    <a:p>
                      <a:pPr algn="ctr" indent="0" marL="0">
                        <a:buNone/>
                      </a:pPr>
                      <a:r>
                        <a:rPr lang="en-US" sz="1100" dirty="0">
                          <a:solidFill>
                            <a:srgbClr val="1B2A2F"/>
                          </a:solidFill>
                        </a:rPr>
                        <a:t>108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rPr>
                        <a:t>149</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E8704A"/>
                    </a:solidFill>
                  </a:tcPr>
                </a:tc>
              </a:tr>
              <a:tr h="292608">
                <a:tc>
                  <a:txBody>
                    <a:bodyPr/>
                    <a:lstStyle/>
                    <a:p>
                      <a:pPr algn="l" indent="0" marL="0">
                        <a:buNone/>
                      </a:pPr>
                      <a:r>
                        <a:rPr lang="en-US" sz="1100" b="1" dirty="0">
                          <a:solidFill>
                            <a:srgbClr val="1B2A2F"/>
                          </a:solidFill>
                        </a:rPr>
                        <a:t>AINS propioniques</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algn="ctr" indent="0" marL="0">
                        <a:buNone/>
                      </a:pPr>
                      <a:r>
                        <a:rPr lang="en-US" sz="1100" dirty="0">
                          <a:solidFill>
                            <a:srgbClr val="1B2A2F"/>
                          </a:solidFill>
                        </a:rPr>
                        <a:t>126</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6C3AE"/>
                    </a:solidFill>
                  </a:tcPr>
                </a:tc>
                <a:tc>
                  <a:txBody>
                    <a:bodyPr/>
                    <a:lstStyle/>
                    <a:p>
                      <a:pPr algn="ctr" indent="0" marL="0">
                        <a:buNone/>
                      </a:pPr>
                      <a:r>
                        <a:rPr lang="en-US" sz="1100" dirty="0">
                          <a:solidFill>
                            <a:srgbClr val="1B2A2F"/>
                          </a:solidFill>
                        </a:rPr>
                        <a:t>108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100</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92</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95</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88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BFE3D8"/>
                    </a:solidFill>
                  </a:tcPr>
                </a:tc>
                <a:tc>
                  <a:txBody>
                    <a:bodyPr/>
                    <a:lstStyle/>
                    <a:p>
                      <a:pPr algn="ctr" indent="0" marL="0">
                        <a:buNone/>
                      </a:pPr>
                      <a:r>
                        <a:rPr lang="en-US" sz="1100" dirty="0">
                          <a:solidFill>
                            <a:srgbClr val="1B2A2F"/>
                          </a:solidFill>
                        </a:rPr>
                        <a:t>97</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93</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99</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94</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108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1B2A2F"/>
                          </a:solidFill>
                        </a:rPr>
                        <a:t>Aspirine et dérivés</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algn="ctr" indent="0" marL="0">
                        <a:buNone/>
                      </a:pPr>
                      <a:r>
                        <a:rPr lang="en-US" sz="1100" dirty="0">
                          <a:solidFill>
                            <a:srgbClr val="1B2A2F"/>
                          </a:solidFill>
                        </a:rPr>
                        <a:t>114</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6C3AE"/>
                    </a:solidFill>
                  </a:tcPr>
                </a:tc>
                <a:tc>
                  <a:txBody>
                    <a:bodyPr/>
                    <a:lstStyle/>
                    <a:p>
                      <a:pPr algn="ctr" indent="0" marL="0">
                        <a:buNone/>
                      </a:pPr>
                      <a:r>
                        <a:rPr lang="en-US" sz="1100" dirty="0">
                          <a:solidFill>
                            <a:srgbClr val="1B2A2F"/>
                          </a:solidFill>
                        </a:rPr>
                        <a:t>112</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6C3AE"/>
                    </a:solidFill>
                  </a:tcPr>
                </a:tc>
                <a:tc>
                  <a:txBody>
                    <a:bodyPr/>
                    <a:lstStyle/>
                    <a:p>
                      <a:pPr algn="ctr" indent="0" marL="0">
                        <a:buNone/>
                      </a:pPr>
                      <a:r>
                        <a:rPr lang="en-US" sz="1100" dirty="0">
                          <a:solidFill>
                            <a:srgbClr val="1B2A2F"/>
                          </a:solidFill>
                        </a:rPr>
                        <a:t>105</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96</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95</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91</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91</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86</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BFE3D8"/>
                    </a:solidFill>
                  </a:tcPr>
                </a:tc>
                <a:tc>
                  <a:txBody>
                    <a:bodyPr/>
                    <a:lstStyle/>
                    <a:p>
                      <a:pPr algn="ctr" indent="0" marL="0">
                        <a:buNone/>
                      </a:pPr>
                      <a:r>
                        <a:rPr lang="en-US" sz="1100" dirty="0">
                          <a:solidFill>
                            <a:srgbClr val="1B2A2F"/>
                          </a:solidFill>
                        </a:rPr>
                        <a:t>106</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106</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100</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1B2A2F"/>
                          </a:solidFill>
                        </a:rPr>
                        <a:t>Somnifères</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algn="ctr" indent="0" marL="0">
                        <a:buNone/>
                      </a:pPr>
                      <a:r>
                        <a:rPr lang="en-US" sz="1100" dirty="0">
                          <a:solidFill>
                            <a:srgbClr val="1B2A2F"/>
                          </a:solidFill>
                        </a:rPr>
                        <a:t>121</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6C3AE"/>
                    </a:solidFill>
                  </a:tcPr>
                </a:tc>
                <a:tc>
                  <a:txBody>
                    <a:bodyPr/>
                    <a:lstStyle/>
                    <a:p>
                      <a:pPr algn="ctr" indent="0" marL="0">
                        <a:buNone/>
                      </a:pPr>
                      <a:r>
                        <a:rPr lang="en-US" sz="1100" dirty="0">
                          <a:solidFill>
                            <a:srgbClr val="1B2A2F"/>
                          </a:solidFill>
                        </a:rPr>
                        <a:t>85</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BFE3D8"/>
                    </a:solidFill>
                  </a:tcPr>
                </a:tc>
                <a:tc>
                  <a:txBody>
                    <a:bodyPr/>
                    <a:lstStyle/>
                    <a:p>
                      <a:pPr algn="ctr" indent="0" marL="0">
                        <a:buNone/>
                      </a:pPr>
                      <a:r>
                        <a:rPr lang="en-US" sz="1100" dirty="0">
                          <a:solidFill>
                            <a:srgbClr val="1B2A2F"/>
                          </a:solidFill>
                        </a:rPr>
                        <a:t>108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81</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BFE3D8"/>
                    </a:solidFill>
                  </a:tcPr>
                </a:tc>
                <a:tc>
                  <a:txBody>
                    <a:bodyPr/>
                    <a:lstStyle/>
                    <a:p>
                      <a:pPr algn="ctr" indent="0" marL="0">
                        <a:buNone/>
                      </a:pPr>
                      <a:r>
                        <a:rPr lang="en-US" sz="1100" dirty="0">
                          <a:solidFill>
                            <a:srgbClr val="1B2A2F"/>
                          </a:solidFill>
                        </a:rPr>
                        <a:t>106</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83</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BFE3D8"/>
                    </a:solidFill>
                  </a:tcPr>
                </a:tc>
                <a:tc>
                  <a:txBody>
                    <a:bodyPr/>
                    <a:lstStyle/>
                    <a:p>
                      <a:pPr algn="ctr" indent="0" marL="0">
                        <a:buNone/>
                      </a:pPr>
                      <a:r>
                        <a:rPr lang="en-US" sz="1100" dirty="0">
                          <a:solidFill>
                            <a:srgbClr val="1B2A2F"/>
                          </a:solidFill>
                        </a:rPr>
                        <a:t>106</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87</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BFE3D8"/>
                    </a:solidFill>
                  </a:tcPr>
                </a:tc>
                <a:tc>
                  <a:txBody>
                    <a:bodyPr/>
                    <a:lstStyle/>
                    <a:p>
                      <a:pPr algn="ctr" indent="0" marL="0">
                        <a:buNone/>
                      </a:pPr>
                      <a:r>
                        <a:rPr lang="en-US" sz="1100" dirty="0">
                          <a:solidFill>
                            <a:srgbClr val="1B2A2F"/>
                          </a:solidFill>
                        </a:rPr>
                        <a:t>87</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BFE3D8"/>
                    </a:solidFill>
                  </a:tcPr>
                </a:tc>
                <a:tc>
                  <a:txBody>
                    <a:bodyPr/>
                    <a:lstStyle/>
                    <a:p>
                      <a:pPr algn="ctr" indent="0" marL="0">
                        <a:buNone/>
                      </a:pPr>
                      <a:r>
                        <a:rPr lang="en-US" sz="1100" dirty="0">
                          <a:solidFill>
                            <a:srgbClr val="1B2A2F"/>
                          </a:solidFill>
                        </a:rPr>
                        <a:t>113</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6C3AE"/>
                    </a:solidFill>
                  </a:tcPr>
                </a:tc>
                <a:tc>
                  <a:txBody>
                    <a:bodyPr/>
                    <a:lstStyle/>
                    <a:p>
                      <a:pPr algn="ctr" indent="0" marL="0">
                        <a:buNone/>
                      </a:pPr>
                      <a:r>
                        <a:rPr lang="en-US" sz="1100" dirty="0">
                          <a:solidFill>
                            <a:srgbClr val="1B2A2F"/>
                          </a:solidFill>
                        </a:rPr>
                        <a:t>126</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6C3AE"/>
                    </a:solidFill>
                  </a:tcPr>
                </a:tc>
              </a:tr>
              <a:tr h="292608">
                <a:tc>
                  <a:txBody>
                    <a:bodyPr/>
                    <a:lstStyle/>
                    <a:p>
                      <a:pPr algn="l" indent="0" marL="0">
                        <a:buNone/>
                      </a:pPr>
                      <a:r>
                        <a:rPr lang="en-US" sz="1100" b="1" dirty="0">
                          <a:solidFill>
                            <a:srgbClr val="1B2A2F"/>
                          </a:solidFill>
                        </a:rPr>
                        <a:t>Anxiolytiques</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algn="ctr" indent="0" marL="0">
                        <a:buNone/>
                      </a:pPr>
                      <a:r>
                        <a:rPr lang="en-US" sz="1100" dirty="0">
                          <a:solidFill>
                            <a:srgbClr val="1B2A2F"/>
                          </a:solidFill>
                        </a:rPr>
                        <a:t>115</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6C3AE"/>
                    </a:solidFill>
                  </a:tcPr>
                </a:tc>
                <a:tc>
                  <a:txBody>
                    <a:bodyPr/>
                    <a:lstStyle/>
                    <a:p>
                      <a:pPr algn="ctr" indent="0" marL="0">
                        <a:buNone/>
                      </a:pPr>
                      <a:r>
                        <a:rPr lang="en-US" sz="1100" dirty="0">
                          <a:solidFill>
                            <a:srgbClr val="1B2A2F"/>
                          </a:solidFill>
                        </a:rPr>
                        <a:t>93</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95</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90</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87</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BFE3D8"/>
                    </a:solidFill>
                  </a:tcPr>
                </a:tc>
                <a:tc>
                  <a:txBody>
                    <a:bodyPr/>
                    <a:lstStyle/>
                    <a:p>
                      <a:pPr algn="ctr" indent="0" marL="0">
                        <a:buNone/>
                      </a:pPr>
                      <a:r>
                        <a:rPr lang="en-US" sz="1100" dirty="0">
                          <a:solidFill>
                            <a:srgbClr val="1B2A2F"/>
                          </a:solidFill>
                        </a:rPr>
                        <a:t>88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BFE3D8"/>
                    </a:solidFill>
                  </a:tcPr>
                </a:tc>
                <a:tc>
                  <a:txBody>
                    <a:bodyPr/>
                    <a:lstStyle/>
                    <a:p>
                      <a:pPr algn="ctr" indent="0" marL="0">
                        <a:buNone/>
                      </a:pPr>
                      <a:r>
                        <a:rPr lang="en-US" sz="1100" dirty="0">
                          <a:solidFill>
                            <a:srgbClr val="1B2A2F"/>
                          </a:solidFill>
                        </a:rPr>
                        <a:t>96</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105</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103</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109</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104</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115</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6C3AE"/>
                    </a:solidFill>
                  </a:tcPr>
                </a:tc>
              </a:tr>
              <a:tr h="292608">
                <a:tc>
                  <a:txBody>
                    <a:bodyPr/>
                    <a:lstStyle/>
                    <a:p>
                      <a:pPr algn="l" indent="0" marL="0">
                        <a:buNone/>
                      </a:pPr>
                      <a:r>
                        <a:rPr lang="en-US" sz="1100" b="1" dirty="0">
                          <a:solidFill>
                            <a:srgbClr val="1B2A2F"/>
                          </a:solidFill>
                        </a:rPr>
                        <a:t>AINS acétiques</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algn="ctr" indent="0" marL="0">
                        <a:buNone/>
                      </a:pPr>
                      <a:r>
                        <a:rPr lang="en-US" sz="1100" dirty="0">
                          <a:solidFill>
                            <a:srgbClr val="1B2A2F"/>
                          </a:solidFill>
                        </a:rPr>
                        <a:t>110</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90</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101</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97</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91</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104</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108</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97</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99</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101</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A2F"/>
                          </a:solidFill>
                        </a:rPr>
                        <a:t>105</a:t>
                      </a:r>
                      <a:endParaRPr lang="en-US" sz="1100" dirty="0"/>
                    </a:p>
                  </a:txBody>
                  <a:tcPr marL="91440" marR="91440" marT="45720" marB="45720" anchor="ctr">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solidFill>
                      <a:srgbClr val="FFFFFF"/>
                    </a:solidFill>
                  </a:tcPr>
                </a:tc>
              </a:tr>
            </a:tbl>
          </a:graphicData>
        </a:graphic>
      </p:graphicFrame>
      <p:sp>
        <p:nvSpPr>
          <p:cNvPr id="6" name="legende-40"/>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100" i="1" dirty="0">
                <a:solidFill>
                  <a:schemeClr val="tx1"/>
                </a:solidFill>
              </a:rPr>
              <a:t>Orange : mois fort. Vert : mois creux. Mensuel recalculé à partir du journalier, mois complets.</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tiquette-41"/>
          <p:cNvSpPr txBox="1"/>
          <p:nvPr/>
        </p:nvSpPr>
        <p:spPr>
          <a:xfrm>
            <a:off x="457200" y="292608"/>
            <a:ext cx="26517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POUR LE PHARMACIEN ACHETEUR · 3/5</a:t>
            </a:r>
            <a:endParaRPr lang="en-US" sz="1000" dirty="0"/>
          </a:p>
        </p:txBody>
      </p:sp>
      <p:sp>
        <p:nvSpPr>
          <p:cNvPr id="3" name="Text 0"/>
          <p:cNvSpPr/>
          <p:nvPr>
            <p:ph idx="100" type="title" hasCustomPrompt="1"/>
          </p:nvPr>
        </p:nvSpPr>
        <p:spPr>
          <a:xfrm>
            <a:off x="457200" y="685800"/>
            <a:ext cx="8229600" cy="822960"/>
          </a:xfrm>
          <a:prstGeom prst="rect">
            <a:avLst/>
          </a:prstGeom>
          <a:noFill/>
          <a:ln/>
        </p:spPr>
        <p:txBody>
          <a:bodyPr wrap="square" lIns="0" tIns="0" rIns="0" bIns="0" rtlCol="0" anchor="t"/>
          <a:lstStyle/>
          <a:p>
            <a:pPr algn="l" indent="0" marL="0">
              <a:buNone/>
            </a:pPr>
            <a:r>
              <a:rPr lang="en-US" sz="2800" b="1" dirty="0">
                <a:solidFill>
                  <a:schemeClr val="tx2"/>
                </a:solidFill>
              </a:rPr>
              <a:t>Semaine ou week-end : deux profils de vente</a:t>
            </a:r>
            <a:endParaRPr lang="en-US" sz="2800" dirty="0"/>
          </a:p>
        </p:txBody>
      </p:sp>
      <p:graphicFrame>
        <p:nvGraphicFramePr>
          <p:cNvPr id="5" name="graphique-42" descr=""/>
          <p:cNvGraphicFramePr/>
          <p:nvPr/>
        </p:nvGraphicFramePr>
        <p:xfrm>
          <a:off x="457200" y="1600200"/>
          <a:ext cx="5394960" cy="2971800"/>
        </p:xfrm>
        <a:graphic xmlns:a="http://schemas.openxmlformats.org/drawingml/2006/main">
          <a:graphicData uri="http://schemas.openxmlformats.org/drawingml/2006/chart">
            <c:chart xmlns:c="http://schemas.openxmlformats.org/drawingml/2006/chart" r:id="rId1"/>
          </a:graphicData>
        </a:graphic>
      </p:graphicFrame>
      <p:sp>
        <p:nvSpPr>
          <p:cNvPr id="6" name="points-43"/>
          <p:cNvSpPr txBox="1"/>
          <p:nvPr/>
        </p:nvSpPr>
        <p:spPr>
          <a:xfrm>
            <a:off x="6172200" y="1645920"/>
            <a:ext cx="2514600" cy="2926080"/>
          </a:xfrm>
          <a:prstGeom prst="rect">
            <a:avLst/>
          </a:prstGeom>
          <a:noFill/>
          <a:ln/>
        </p:spPr>
        <p:txBody>
          <a:bodyPr wrap="square" lIns="0" tIns="0" rIns="0" bIns="0" rtlCol="0" anchor="t"/>
          <a:lstStyle/>
          <a:p>
            <a:pPr indent="0" marL="0">
              <a:buNone/>
            </a:pPr>
            <a:r>
              <a:rPr lang="en-US" sz="1500" b="1" dirty="0">
                <a:solidFill>
                  <a:schemeClr val="tx2"/>
                </a:solidFill>
              </a:rPr>
              <a:t>En semaine</a:t>
            </a:r>
            <a:endParaRPr lang="en-US" sz="1500" dirty="0"/>
          </a:p>
          <a:p>
            <a:pPr indent="0" marL="0">
              <a:spcAft>
                <a:spcPts val="1000"/>
              </a:spcAft>
              <a:buNone/>
            </a:pPr>
            <a:r>
              <a:rPr lang="en-US" sz="1400" dirty="0">
                <a:solidFill>
                  <a:schemeClr val="tx1"/>
                </a:solidFill>
              </a:rPr>
              <a:t>Anxiolytiques et somnifères : 65 et 53 le dimanche.</a:t>
            </a:r>
            <a:endParaRPr lang="en-US" sz="1500" dirty="0"/>
          </a:p>
          <a:p>
            <a:pPr indent="0" marL="0">
              <a:buNone/>
            </a:pPr>
            <a:r>
              <a:rPr lang="en-US" sz="1500" b="1" dirty="0">
                <a:solidFill>
                  <a:schemeClr val="tx2"/>
                </a:solidFill>
              </a:rPr>
              <a:t>Le week-end</a:t>
            </a:r>
            <a:endParaRPr lang="en-US" sz="1500" dirty="0"/>
          </a:p>
          <a:p>
            <a:pPr indent="0" marL="0">
              <a:spcAft>
                <a:spcPts val="1000"/>
              </a:spcAft>
              <a:buNone/>
            </a:pPr>
            <a:r>
              <a:rPr lang="en-US" sz="1400" dirty="0">
                <a:solidFill>
                  <a:schemeClr val="tx1"/>
                </a:solidFill>
              </a:rPr>
              <a:t>Paracétamol et anti-inflammatoires : 111 à 119.</a:t>
            </a:r>
            <a:endParaRPr lang="en-US" sz="1500" dirty="0"/>
          </a:p>
          <a:p>
            <a:pPr indent="0" marL="0">
              <a:buNone/>
            </a:pPr>
            <a:r>
              <a:rPr lang="en-US" sz="1500" b="1" dirty="0">
                <a:solidFill>
                  <a:schemeClr val="tx2"/>
                </a:solidFill>
              </a:rPr>
              <a:t>Stables</a:t>
            </a:r>
            <a:endParaRPr lang="en-US" sz="1500" dirty="0"/>
          </a:p>
          <a:p>
            <a:pPr indent="0" marL="0">
              <a:spcAft>
                <a:spcPts val="1000"/>
              </a:spcAft>
              <a:buNone/>
            </a:pPr>
            <a:r>
              <a:rPr lang="en-US" sz="1400" dirty="0">
                <a:solidFill>
                  <a:schemeClr val="tx1"/>
                </a:solidFill>
              </a:rPr>
              <a:t>Antiasthmatiques : 94 à 108 toute la semaine.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tiquette-44"/>
          <p:cNvSpPr txBox="1"/>
          <p:nvPr/>
        </p:nvSpPr>
        <p:spPr>
          <a:xfrm>
            <a:off x="457200" y="292608"/>
            <a:ext cx="26517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POUR LE PHARMACIEN ACHETEUR · 4/5</a:t>
            </a:r>
            <a:endParaRPr lang="en-US" sz="1000" dirty="0"/>
          </a:p>
        </p:txBody>
      </p:sp>
      <p:sp>
        <p:nvSpPr>
          <p:cNvPr id="3" name="Text 0"/>
          <p:cNvSpPr/>
          <p:nvPr>
            <p:ph idx="100" type="title" hasCustomPrompt="1"/>
          </p:nvPr>
        </p:nvSpPr>
        <p:spPr>
          <a:xfrm>
            <a:off x="457200" y="685800"/>
            <a:ext cx="8229600" cy="822960"/>
          </a:xfrm>
          <a:prstGeom prst="rect">
            <a:avLst/>
          </a:prstGeom>
          <a:noFill/>
          <a:ln/>
        </p:spPr>
        <p:txBody>
          <a:bodyPr wrap="square" lIns="0" tIns="0" rIns="0" bIns="0" rtlCol="0" anchor="t"/>
          <a:lstStyle/>
          <a:p>
            <a:pPr algn="l" indent="0" marL="0">
              <a:buNone/>
            </a:pPr>
            <a:r>
              <a:rPr lang="en-US" sz="2800" b="1" dirty="0">
                <a:solidFill>
                  <a:schemeClr val="tx2"/>
                </a:solidFill>
              </a:rPr>
              <a:t>Ce qu'on peut prévoir, et ce qu'on ne peut pas</a:t>
            </a:r>
            <a:endParaRPr lang="en-US" sz="2800" dirty="0"/>
          </a:p>
        </p:txBody>
      </p:sp>
      <p:sp>
        <p:nvSpPr>
          <p:cNvPr id="5" name="carte-45"/>
          <p:cNvSpPr/>
          <p:nvPr/>
        </p:nvSpPr>
        <p:spPr>
          <a:xfrm>
            <a:off x="457200" y="1645920"/>
            <a:ext cx="3977640" cy="2103120"/>
          </a:xfrm>
          <a:prstGeom prst="roundRect">
            <a:avLst>
              <a:gd name="adj" fmla="val 3478"/>
            </a:avLst>
          </a:prstGeom>
          <a:solidFill>
            <a:schemeClr val="bg2"/>
          </a:solidFill>
          <a:ln w="12700">
            <a:solidFill>
              <a:schemeClr val="bg2"/>
            </a:solidFill>
            <a:prstDash val="solid"/>
          </a:ln>
        </p:spPr>
      </p:sp>
      <p:sp>
        <p:nvSpPr>
          <p:cNvPr id="6" name="carte-texte-46"/>
          <p:cNvSpPr txBox="1"/>
          <p:nvPr/>
        </p:nvSpPr>
        <p:spPr>
          <a:xfrm>
            <a:off x="640080" y="1755648"/>
            <a:ext cx="3611880" cy="1883664"/>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Prévisible le mois suivant</a:t>
            </a:r>
            <a:endParaRPr lang="en-US" sz="1600" dirty="0"/>
          </a:p>
          <a:p>
            <a:pPr indent="0" marL="0">
              <a:spcAft>
                <a:spcPts val="400"/>
              </a:spcAft>
              <a:buNone/>
            </a:pPr>
            <a:r>
              <a:rPr lang="en-US" sz="1400" dirty="0">
                <a:solidFill>
                  <a:schemeClr val="tx1"/>
                </a:solidFill>
              </a:rPr>
              <a:t>Paracétamol : environ 1 230 unités en octobre 2019, à 140 près.</a:t>
            </a:r>
            <a:endParaRPr lang="en-US" sz="1600" dirty="0"/>
          </a:p>
          <a:p>
            <a:pPr indent="0" marL="0">
              <a:spcAft>
                <a:spcPts val="400"/>
              </a:spcAft>
              <a:buNone/>
            </a:pPr>
            <a:r>
              <a:rPr lang="en-US" sz="1400" dirty="0">
                <a:solidFill>
                  <a:schemeClr val="tx1"/>
                </a:solidFill>
              </a:rPr>
              <a:t>Antihistaminiques : environ 78 unités, à 21 près.</a:t>
            </a:r>
            <a:endParaRPr lang="en-US" sz="1600" dirty="0"/>
          </a:p>
        </p:txBody>
      </p:sp>
      <p:sp>
        <p:nvSpPr>
          <p:cNvPr id="7" name="carte-47"/>
          <p:cNvSpPr/>
          <p:nvPr/>
        </p:nvSpPr>
        <p:spPr>
          <a:xfrm>
            <a:off x="4709160" y="1645920"/>
            <a:ext cx="3977640" cy="2103120"/>
          </a:xfrm>
          <a:prstGeom prst="roundRect">
            <a:avLst>
              <a:gd name="adj" fmla="val 3478"/>
            </a:avLst>
          </a:prstGeom>
          <a:solidFill>
            <a:schemeClr val="bg2"/>
          </a:solidFill>
          <a:ln w="12700">
            <a:solidFill>
              <a:schemeClr val="bg2"/>
            </a:solidFill>
            <a:prstDash val="solid"/>
          </a:ln>
        </p:spPr>
      </p:sp>
      <p:sp>
        <p:nvSpPr>
          <p:cNvPr id="8" name="carte-texte-48"/>
          <p:cNvSpPr txBox="1"/>
          <p:nvPr/>
        </p:nvSpPr>
        <p:spPr>
          <a:xfrm>
            <a:off x="4892040" y="1755648"/>
            <a:ext cx="3611880" cy="1883664"/>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À gérer sans prévision</a:t>
            </a:r>
            <a:endParaRPr lang="en-US" sz="1600" dirty="0"/>
          </a:p>
          <a:p>
            <a:pPr indent="0" marL="0">
              <a:spcAft>
                <a:spcPts val="400"/>
              </a:spcAft>
              <a:buNone/>
            </a:pPr>
            <a:r>
              <a:rPr lang="en-US" sz="1400" dirty="0">
                <a:solidFill>
                  <a:schemeClr val="tx1"/>
                </a:solidFill>
              </a:rPr>
              <a:t>Somnifères : aucune vente deux jours sur trois.</a:t>
            </a:r>
            <a:endParaRPr lang="en-US" sz="1600" dirty="0"/>
          </a:p>
          <a:p>
            <a:pPr indent="0" marL="0">
              <a:spcAft>
                <a:spcPts val="400"/>
              </a:spcAft>
              <a:buNone/>
            </a:pPr>
            <a:r>
              <a:rPr lang="en-US" sz="1400" dirty="0">
                <a:solidFill>
                  <a:schemeClr val="tx1"/>
                </a:solidFill>
              </a:rPr>
              <a:t>Antiasthmatiques : ventes très irrégulières d'un jour à l'autre.</a:t>
            </a:r>
            <a:endParaRPr lang="en-US" sz="1600" dirty="0"/>
          </a:p>
          <a:p>
            <a:pPr indent="0" marL="0">
              <a:spcAft>
                <a:spcPts val="400"/>
              </a:spcAft>
              <a:buNone/>
            </a:pPr>
            <a:r>
              <a:rPr lang="en-US" sz="1400" dirty="0">
                <a:solidFill>
                  <a:schemeClr val="tx1"/>
                </a:solidFill>
              </a:rPr>
              <a:t>Six groupes sur huit : le modèle ne bat pas « comme le mois dernier ».</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tiquette-49"/>
          <p:cNvSpPr txBox="1"/>
          <p:nvPr/>
        </p:nvSpPr>
        <p:spPr>
          <a:xfrm>
            <a:off x="457200" y="292608"/>
            <a:ext cx="26517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POUR LE PHARMACIEN ACHETEUR · 5/5</a:t>
            </a:r>
            <a:endParaRPr lang="en-US" sz="1000" dirty="0"/>
          </a:p>
        </p:txBody>
      </p:sp>
      <p:sp>
        <p:nvSpPr>
          <p:cNvPr id="3" name="Text 0"/>
          <p:cNvSpPr/>
          <p:nvPr>
            <p:ph idx="100" type="title" hasCustomPrompt="1"/>
          </p:nvPr>
        </p:nvSpPr>
        <p:spPr>
          <a:xfrm>
            <a:off x="457200" y="685800"/>
            <a:ext cx="8229600" cy="822960"/>
          </a:xfrm>
          <a:prstGeom prst="rect">
            <a:avLst/>
          </a:prstGeom>
          <a:noFill/>
          <a:ln/>
        </p:spPr>
        <p:txBody>
          <a:bodyPr wrap="square" lIns="0" tIns="0" rIns="0" bIns="0" rtlCol="0" anchor="t"/>
          <a:lstStyle/>
          <a:p>
            <a:pPr algn="l" indent="0" marL="0">
              <a:buNone/>
            </a:pPr>
            <a:r>
              <a:rPr lang="en-US" sz="2800" b="1" dirty="0">
                <a:solidFill>
                  <a:schemeClr val="tx2"/>
                </a:solidFill>
              </a:rPr>
              <a:t>Votre outil dans Excel : trois gestes, aucune macro</a:t>
            </a:r>
            <a:endParaRPr lang="en-US" sz="2800" dirty="0"/>
          </a:p>
        </p:txBody>
      </p:sp>
      <p:sp>
        <p:nvSpPr>
          <p:cNvPr id="5" name="pastille-50"/>
          <p:cNvSpPr txBox="1"/>
          <p:nvPr/>
        </p:nvSpPr>
        <p:spPr>
          <a:xfrm>
            <a:off x="457200" y="1645920"/>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geste-51"/>
          <p:cNvSpPr txBox="1"/>
          <p:nvPr/>
        </p:nvSpPr>
        <p:spPr>
          <a:xfrm>
            <a:off x="457200" y="2194560"/>
            <a:ext cx="2560320" cy="13716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Ouvrir la feuille Outil</a:t>
            </a:r>
            <a:endParaRPr lang="en-US" sz="1600" dirty="0"/>
          </a:p>
          <a:p>
            <a:pPr indent="0" marL="0">
              <a:spcAft>
                <a:spcPts val="400"/>
              </a:spcAft>
              <a:buNone/>
            </a:pPr>
            <a:r>
              <a:rPr lang="en-US" sz="1400" dirty="0">
                <a:solidFill>
                  <a:schemeClr val="tx1"/>
                </a:solidFill>
              </a:rPr>
              <a:t>dans le classeur classeur_pharmacie.xlsx.</a:t>
            </a:r>
            <a:endParaRPr lang="en-US" sz="1600" dirty="0"/>
          </a:p>
        </p:txBody>
      </p:sp>
      <p:sp>
        <p:nvSpPr>
          <p:cNvPr id="7" name="pastille-52"/>
          <p:cNvSpPr txBox="1"/>
          <p:nvPr/>
        </p:nvSpPr>
        <p:spPr>
          <a:xfrm>
            <a:off x="3291840" y="1645920"/>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geste-53"/>
          <p:cNvSpPr txBox="1"/>
          <p:nvPr/>
        </p:nvSpPr>
        <p:spPr>
          <a:xfrm>
            <a:off x="3291840" y="2194560"/>
            <a:ext cx="2560320" cy="13716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Saisir la période</a:t>
            </a:r>
            <a:endParaRPr lang="en-US" sz="1600" dirty="0"/>
          </a:p>
          <a:p>
            <a:pPr indent="0" marL="0">
              <a:spcAft>
                <a:spcPts val="400"/>
              </a:spcAft>
              <a:buNone/>
            </a:pPr>
            <a:r>
              <a:rPr lang="en-US" sz="1400" dirty="0">
                <a:solidFill>
                  <a:schemeClr val="tx1"/>
                </a:solidFill>
              </a:rPr>
              <a:t>Date de début et date de fin. La même date deux fois : un seul jour.</a:t>
            </a:r>
            <a:endParaRPr lang="en-US" sz="1600" dirty="0"/>
          </a:p>
        </p:txBody>
      </p:sp>
      <p:sp>
        <p:nvSpPr>
          <p:cNvPr id="9" name="pastille-54"/>
          <p:cNvSpPr txBox="1"/>
          <p:nvPr/>
        </p:nvSpPr>
        <p:spPr>
          <a:xfrm>
            <a:off x="6126480" y="1645920"/>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0" name="geste-55"/>
          <p:cNvSpPr txBox="1"/>
          <p:nvPr/>
        </p:nvSpPr>
        <p:spPr>
          <a:xfrm>
            <a:off x="6126480" y="2194560"/>
            <a:ext cx="2560320" cy="13716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Choisir les groupes</a:t>
            </a:r>
            <a:endParaRPr lang="en-US" sz="1600" dirty="0"/>
          </a:p>
          <a:p>
            <a:pPr indent="0" marL="0">
              <a:spcAft>
                <a:spcPts val="400"/>
              </a:spcAft>
              <a:buNone/>
            </a:pPr>
            <a:r>
              <a:rPr lang="en-US" sz="1400" dirty="0">
                <a:solidFill>
                  <a:schemeClr val="tx1"/>
                </a:solidFill>
              </a:rPr>
              <a:t>Oui ou Non devant chacun des huit groupes.</a:t>
            </a:r>
            <a:endParaRPr lang="en-US" sz="1600" dirty="0"/>
          </a:p>
        </p:txBody>
      </p:sp>
      <p:sp>
        <p:nvSpPr>
          <p:cNvPr id="11" name="bandeau-56"/>
          <p:cNvSpPr txBox="1"/>
          <p:nvPr/>
        </p:nvSpPr>
        <p:spPr>
          <a:xfrm>
            <a:off x="457200" y="3840480"/>
            <a:ext cx="8229600" cy="685800"/>
          </a:xfrm>
          <a:prstGeom prst="roundRect">
            <a:avLst>
              <a:gd name="adj" fmla="val 10667"/>
            </a:avLst>
          </a:prstGeom>
          <a:solidFill>
            <a:schemeClr val="bg2"/>
          </a:solidFill>
          <a:ln>
            <a:solidFill>
              <a:schemeClr val="bg2"/>
            </a:solidFill>
          </a:ln>
        </p:spPr>
        <p:txBody>
          <a:bodyPr wrap="square" lIns="0" tIns="177800" rIns="177800" bIns="0" rtlCol="0" anchor="ctr"/>
          <a:lstStyle/>
          <a:p>
            <a:pPr indent="0" marL="0">
              <a:buNone/>
            </a:pPr>
            <a:r>
              <a:rPr lang="en-US" sz="1400" b="1" dirty="0">
                <a:solidFill>
                  <a:schemeClr val="tx1"/>
                </a:solidFill>
              </a:rPr>
              <a:t>S'affichent aussitôt : </a:t>
            </a:r>
            <a:pPr indent="0" marL="0">
              <a:buNone/>
            </a:pPr>
            <a:r>
              <a:rPr lang="en-US" sz="1400" dirty="0">
                <a:solidFill>
                  <a:schemeClr val="tx1"/>
                </a:solidFill>
              </a:rPr>
              <a:t>le total sur la période, la moyenne par jour et le détail jour par jour.</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tiquette-57"/>
          <p:cNvSpPr txBox="1"/>
          <p:nvPr/>
        </p:nvSpPr>
        <p:spPr>
          <a:xfrm>
            <a:off x="457200" y="292608"/>
            <a:ext cx="2651760" cy="292608"/>
          </a:xfrm>
          <a:prstGeom prst="roundRect">
            <a:avLst>
              <a:gd name="adj" fmla="val 50000"/>
            </a:avLst>
          </a:prstGeom>
          <a:solidFill>
            <a:schemeClr val="accent5"/>
          </a:solidFill>
          <a:ln/>
        </p:spPr>
        <p:txBody>
          <a:bodyPr wrap="square" lIns="0" tIns="0" rIns="0" bIns="0" rtlCol="0" anchor="ctr"/>
          <a:lstStyle/>
          <a:p>
            <a:pPr algn="ctr" indent="0" marL="0">
              <a:buNone/>
            </a:pPr>
            <a:r>
              <a:rPr lang="en-US" sz="1000" b="1" dirty="0">
                <a:solidFill>
                  <a:schemeClr val="tx1"/>
                </a:solidFill>
              </a:rPr>
              <a:t>POUR LE PROPRIÉTAIRE · 1/5</a:t>
            </a:r>
            <a:endParaRPr lang="en-US" sz="1000" dirty="0"/>
          </a:p>
        </p:txBody>
      </p:sp>
      <p:sp>
        <p:nvSpPr>
          <p:cNvPr id="3" name="Text 0"/>
          <p:cNvSpPr/>
          <p:nvPr>
            <p:ph idx="100" type="title" hasCustomPrompt="1"/>
          </p:nvPr>
        </p:nvSpPr>
        <p:spPr>
          <a:xfrm>
            <a:off x="457200" y="868680"/>
            <a:ext cx="8229600" cy="1188720"/>
          </a:xfrm>
          <a:prstGeom prst="rect">
            <a:avLst/>
          </a:prstGeom>
          <a:noFill/>
          <a:ln/>
        </p:spPr>
        <p:txBody>
          <a:bodyPr wrap="square" lIns="0" tIns="0" rIns="0" bIns="0" rtlCol="0" anchor="t"/>
          <a:lstStyle/>
          <a:p>
            <a:pPr algn="l" indent="0" marL="0">
              <a:buNone/>
            </a:pPr>
            <a:r>
              <a:rPr lang="en-US" sz="3400" b="1" dirty="0">
                <a:solidFill>
                  <a:schemeClr val="bg1"/>
                </a:solidFill>
              </a:rPr>
              <a:t>Trois décisions pour votre pharmacie</a:t>
            </a:r>
            <a:endParaRPr lang="en-US" sz="3400" dirty="0"/>
          </a:p>
        </p:txBody>
      </p:sp>
      <p:sp>
        <p:nvSpPr>
          <p:cNvPr id="5" name="Text 0"/>
          <p:cNvSpPr/>
          <p:nvPr>
            <p:ph idx="101" type="body" hasCustomPrompt="1"/>
          </p:nvPr>
        </p:nvSpPr>
        <p:spPr>
          <a:xfrm>
            <a:off x="457200" y="2103120"/>
            <a:ext cx="8229600" cy="548640"/>
          </a:xfrm>
          <a:prstGeom prst="rect">
            <a:avLst/>
          </a:prstGeom>
          <a:noFill/>
          <a:ln/>
        </p:spPr>
        <p:txBody>
          <a:bodyPr wrap="square" lIns="0" tIns="0" rIns="0" bIns="0" rtlCol="0" anchor="t"/>
          <a:lstStyle/>
          <a:p>
            <a:pPr algn="l" indent="0" marL="0">
              <a:buNone/>
            </a:pPr>
            <a:r>
              <a:rPr lang="en-US" sz="1600" dirty="0">
                <a:solidFill>
                  <a:schemeClr val="bg2"/>
                </a:solidFill>
              </a:rPr>
              <a:t>Ce qui dépend de vous, ce qui dépend de l'environnement, et l'offre du laboratoire</a:t>
            </a:r>
            <a:endParaRPr lang="en-US" sz="1600" dirty="0"/>
          </a:p>
        </p:txBody>
      </p:sp>
      <p:sp>
        <p:nvSpPr>
          <p:cNvPr id="6" name="chiffre-58"/>
          <p:cNvSpPr txBox="1"/>
          <p:nvPr/>
        </p:nvSpPr>
        <p:spPr>
          <a:xfrm>
            <a:off x="457200" y="2880360"/>
            <a:ext cx="2468880" cy="731520"/>
          </a:xfrm>
          <a:prstGeom prst="rect">
            <a:avLst/>
          </a:prstGeom>
          <a:noFill/>
          <a:ln/>
        </p:spPr>
        <p:txBody>
          <a:bodyPr wrap="square" lIns="0" tIns="0" rIns="0" bIns="0" rtlCol="0" anchor="ctr"/>
          <a:lstStyle/>
          <a:p>
            <a:pPr indent="0" marL="0">
              <a:buNone/>
            </a:pPr>
            <a:r>
              <a:rPr lang="en-US" sz="4400" b="1" dirty="0">
                <a:solidFill>
                  <a:schemeClr val="accent5"/>
                </a:solidFill>
                <a:latin typeface="Cambria" pitchFamily="34" charset="0"/>
                <a:ea typeface="Cambria" pitchFamily="34" charset="-122"/>
                <a:cs typeface="Cambria" pitchFamily="34" charset="-120"/>
              </a:rPr>
              <a:t>2 pics</a:t>
            </a:r>
            <a:endParaRPr lang="en-US" sz="4400" dirty="0"/>
          </a:p>
        </p:txBody>
      </p:sp>
      <p:sp>
        <p:nvSpPr>
          <p:cNvPr id="7" name="libelle-59"/>
          <p:cNvSpPr txBox="1"/>
          <p:nvPr/>
        </p:nvSpPr>
        <p:spPr>
          <a:xfrm>
            <a:off x="457200" y="3657600"/>
            <a:ext cx="2468880" cy="731520"/>
          </a:xfrm>
          <a:prstGeom prst="rect">
            <a:avLst/>
          </a:prstGeom>
          <a:noFill/>
          <a:ln/>
        </p:spPr>
        <p:txBody>
          <a:bodyPr wrap="square" lIns="0" tIns="0" rIns="0" bIns="0" rtlCol="0" anchor="t"/>
          <a:lstStyle/>
          <a:p>
            <a:pPr indent="0" marL="0">
              <a:buNone/>
            </a:pPr>
            <a:r>
              <a:rPr lang="en-US" sz="1400" dirty="0">
                <a:solidFill>
                  <a:schemeClr val="bg1"/>
                </a:solidFill>
              </a:rPr>
              <a:t>par jour : fin de matinée et début de soirée</a:t>
            </a:r>
            <a:endParaRPr lang="en-US" sz="1400" dirty="0"/>
          </a:p>
        </p:txBody>
      </p:sp>
      <p:sp>
        <p:nvSpPr>
          <p:cNvPr id="8" name="chiffre-60"/>
          <p:cNvSpPr txBox="1"/>
          <p:nvPr/>
        </p:nvSpPr>
        <p:spPr>
          <a:xfrm>
            <a:off x="3337560" y="2880360"/>
            <a:ext cx="2468880" cy="731520"/>
          </a:xfrm>
          <a:prstGeom prst="rect">
            <a:avLst/>
          </a:prstGeom>
          <a:noFill/>
          <a:ln/>
        </p:spPr>
        <p:txBody>
          <a:bodyPr wrap="square" lIns="0" tIns="0" rIns="0" bIns="0" rtlCol="0" anchor="ctr"/>
          <a:lstStyle/>
          <a:p>
            <a:pPr indent="0" marL="0">
              <a:buNone/>
            </a:pPr>
            <a:r>
              <a:rPr lang="en-US" sz="4400" b="1" dirty="0">
                <a:solidFill>
                  <a:schemeClr val="accent5"/>
                </a:solidFill>
                <a:latin typeface="Cambria" pitchFamily="34" charset="0"/>
                <a:ea typeface="Cambria" pitchFamily="34" charset="-122"/>
                <a:cs typeface="Cambria" pitchFamily="34" charset="-120"/>
              </a:rPr>
              <a:t>+46 %</a:t>
            </a:r>
            <a:endParaRPr lang="en-US" sz="4400" dirty="0"/>
          </a:p>
        </p:txBody>
      </p:sp>
      <p:sp>
        <p:nvSpPr>
          <p:cNvPr id="9" name="libelle-61"/>
          <p:cNvSpPr txBox="1"/>
          <p:nvPr/>
        </p:nvSpPr>
        <p:spPr>
          <a:xfrm>
            <a:off x="3337560" y="3657600"/>
            <a:ext cx="2468880" cy="731520"/>
          </a:xfrm>
          <a:prstGeom prst="rect">
            <a:avLst/>
          </a:prstGeom>
          <a:noFill/>
          <a:ln/>
        </p:spPr>
        <p:txBody>
          <a:bodyPr wrap="square" lIns="0" tIns="0" rIns="0" bIns="0" rtlCol="0" anchor="t"/>
          <a:lstStyle/>
          <a:p>
            <a:pPr indent="0" marL="0">
              <a:buNone/>
            </a:pPr>
            <a:r>
              <a:rPr lang="en-US" sz="1400" dirty="0">
                <a:solidFill>
                  <a:schemeClr val="bg1"/>
                </a:solidFill>
              </a:rPr>
              <a:t>de paracétamol quand la grippe est forte</a:t>
            </a:r>
            <a:endParaRPr lang="en-US" sz="1400" dirty="0"/>
          </a:p>
        </p:txBody>
      </p:sp>
      <p:sp>
        <p:nvSpPr>
          <p:cNvPr id="10" name="chiffre-62"/>
          <p:cNvSpPr txBox="1"/>
          <p:nvPr/>
        </p:nvSpPr>
        <p:spPr>
          <a:xfrm>
            <a:off x="6217920" y="2880360"/>
            <a:ext cx="2468880" cy="731520"/>
          </a:xfrm>
          <a:prstGeom prst="rect">
            <a:avLst/>
          </a:prstGeom>
          <a:noFill/>
          <a:ln/>
        </p:spPr>
        <p:txBody>
          <a:bodyPr wrap="square" lIns="0" tIns="0" rIns="0" bIns="0" rtlCol="0" anchor="ctr"/>
          <a:lstStyle/>
          <a:p>
            <a:pPr indent="0" marL="0">
              <a:buNone/>
            </a:pPr>
            <a:r>
              <a:rPr lang="en-US" sz="4400" b="1" dirty="0">
                <a:solidFill>
                  <a:schemeClr val="accent5"/>
                </a:solidFill>
                <a:latin typeface="Cambria" pitchFamily="34" charset="0"/>
                <a:ea typeface="Cambria" pitchFamily="34" charset="-122"/>
                <a:cs typeface="Cambria" pitchFamily="34" charset="-120"/>
              </a:rPr>
              <a:t>86 %</a:t>
            </a:r>
            <a:endParaRPr lang="en-US" sz="4400" dirty="0"/>
          </a:p>
        </p:txBody>
      </p:sp>
      <p:sp>
        <p:nvSpPr>
          <p:cNvPr id="11" name="libelle-63"/>
          <p:cNvSpPr txBox="1"/>
          <p:nvPr/>
        </p:nvSpPr>
        <p:spPr>
          <a:xfrm>
            <a:off x="6217920" y="3657600"/>
            <a:ext cx="2468880" cy="731520"/>
          </a:xfrm>
          <a:prstGeom prst="rect">
            <a:avLst/>
          </a:prstGeom>
          <a:noFill/>
          <a:ln/>
        </p:spPr>
        <p:txBody>
          <a:bodyPr wrap="square" lIns="0" tIns="0" rIns="0" bIns="0" rtlCol="0" anchor="t"/>
          <a:lstStyle/>
          <a:p>
            <a:pPr indent="0" marL="0">
              <a:buNone/>
            </a:pPr>
            <a:r>
              <a:rPr lang="en-US" sz="1400" dirty="0">
                <a:solidFill>
                  <a:schemeClr val="bg1"/>
                </a:solidFill>
              </a:rPr>
              <a:t>des ventes de somnifères sont isolées, heure par heure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tiquette-64"/>
          <p:cNvSpPr txBox="1"/>
          <p:nvPr/>
        </p:nvSpPr>
        <p:spPr>
          <a:xfrm>
            <a:off x="457200" y="292608"/>
            <a:ext cx="26517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POUR LE PROPRIÉTAIRE · 2/5</a:t>
            </a:r>
            <a:endParaRPr lang="en-US" sz="1000" dirty="0"/>
          </a:p>
        </p:txBody>
      </p:sp>
      <p:sp>
        <p:nvSpPr>
          <p:cNvPr id="3" name="Text 0"/>
          <p:cNvSpPr/>
          <p:nvPr>
            <p:ph idx="100" type="title" hasCustomPrompt="1"/>
          </p:nvPr>
        </p:nvSpPr>
        <p:spPr>
          <a:xfrm>
            <a:off x="457200" y="685800"/>
            <a:ext cx="8229600" cy="822960"/>
          </a:xfrm>
          <a:prstGeom prst="rect">
            <a:avLst/>
          </a:prstGeom>
          <a:noFill/>
          <a:ln/>
        </p:spPr>
        <p:txBody>
          <a:bodyPr wrap="square" lIns="0" tIns="0" rIns="0" bIns="0" rtlCol="0" anchor="t"/>
          <a:lstStyle/>
          <a:p>
            <a:pPr algn="l" indent="0" marL="0">
              <a:buNone/>
            </a:pPr>
            <a:r>
              <a:rPr lang="en-US" sz="2800" b="1" dirty="0">
                <a:solidFill>
                  <a:schemeClr val="tx2"/>
                </a:solidFill>
              </a:rPr>
              <a:t>Deux pics par jour : c'est là qu'il faut du monde</a:t>
            </a:r>
            <a:endParaRPr lang="en-US" sz="2800" dirty="0"/>
          </a:p>
        </p:txBody>
      </p:sp>
      <p:graphicFrame>
        <p:nvGraphicFramePr>
          <p:cNvPr id="5" name="graphique-65" descr=""/>
          <p:cNvGraphicFramePr/>
          <p:nvPr/>
        </p:nvGraphicFramePr>
        <p:xfrm>
          <a:off x="457200" y="1600200"/>
          <a:ext cx="5394960" cy="2971800"/>
        </p:xfrm>
        <a:graphic xmlns:a="http://schemas.openxmlformats.org/drawingml/2006/main">
          <a:graphicData uri="http://schemas.openxmlformats.org/drawingml/2006/chart">
            <c:chart xmlns:c="http://schemas.openxmlformats.org/drawingml/2006/chart" r:id="rId1"/>
          </a:graphicData>
        </a:graphic>
      </p:graphicFrame>
      <p:sp>
        <p:nvSpPr>
          <p:cNvPr id="6" name="points-66"/>
          <p:cNvSpPr txBox="1"/>
          <p:nvPr/>
        </p:nvSpPr>
        <p:spPr>
          <a:xfrm>
            <a:off x="6172200" y="1645920"/>
            <a:ext cx="2514600" cy="2926080"/>
          </a:xfrm>
          <a:prstGeom prst="rect">
            <a:avLst/>
          </a:prstGeom>
          <a:noFill/>
          <a:ln/>
        </p:spPr>
        <p:txBody>
          <a:bodyPr wrap="square" lIns="0" tIns="0" rIns="0" bIns="0" rtlCol="0" anchor="t"/>
          <a:lstStyle/>
          <a:p>
            <a:pPr indent="0" marL="0">
              <a:buNone/>
            </a:pPr>
            <a:r>
              <a:rPr lang="en-US" sz="1500" b="1" dirty="0">
                <a:solidFill>
                  <a:schemeClr val="tx2"/>
                </a:solidFill>
              </a:rPr>
              <a:t>De 10 h à 14 h, de 18 h à 21 h</a:t>
            </a:r>
            <a:endParaRPr lang="en-US" sz="1500" dirty="0"/>
          </a:p>
          <a:p>
            <a:pPr indent="0" marL="0">
              <a:spcAft>
                <a:spcPts val="1000"/>
              </a:spcAft>
              <a:buNone/>
            </a:pPr>
            <a:r>
              <a:rPr lang="en-US" sz="1400" dirty="0">
                <a:solidFill>
                  <a:schemeClr val="tx1"/>
                </a:solidFill>
              </a:rPr>
              <a:t>Environ 8 % des ventes par heure : équipe au complet.</a:t>
            </a:r>
            <a:endParaRPr lang="en-US" sz="1500" dirty="0"/>
          </a:p>
          <a:p>
            <a:pPr indent="0" marL="0">
              <a:buNone/>
            </a:pPr>
            <a:r>
              <a:rPr lang="en-US" sz="1500" b="1" dirty="0">
                <a:solidFill>
                  <a:schemeClr val="tx2"/>
                </a:solidFill>
              </a:rPr>
              <a:t>7 h et 22 h</a:t>
            </a:r>
            <a:endParaRPr lang="en-US" sz="1500" dirty="0"/>
          </a:p>
          <a:p>
            <a:pPr indent="0" marL="0">
              <a:spcAft>
                <a:spcPts val="1000"/>
              </a:spcAft>
              <a:buNone/>
            </a:pPr>
            <a:r>
              <a:rPr lang="en-US" sz="1400" dirty="0">
                <a:solidFill>
                  <a:schemeClr val="tx1"/>
                </a:solidFill>
              </a:rPr>
              <a:t>Moins de 1 % des ventes chacune.</a:t>
            </a:r>
            <a:endParaRPr lang="en-US" sz="1500" dirty="0"/>
          </a:p>
          <a:p>
            <a:pPr indent="0" marL="0">
              <a:buNone/>
            </a:pPr>
            <a:r>
              <a:rPr lang="en-US" sz="1500" b="1" dirty="0">
                <a:solidFill>
                  <a:schemeClr val="tx2"/>
                </a:solidFill>
              </a:rPr>
              <a:t>À confirmer avec vous</a:t>
            </a:r>
            <a:endParaRPr lang="en-US" sz="1500" dirty="0"/>
          </a:p>
          <a:p>
            <a:pPr indent="0" marL="0">
              <a:spcAft>
                <a:spcPts val="1000"/>
              </a:spcAft>
              <a:buNone/>
            </a:pPr>
            <a:r>
              <a:rPr lang="en-US" sz="1400" dirty="0">
                <a:solidFill>
                  <a:schemeClr val="tx1"/>
                </a:solidFill>
              </a:rPr>
              <a:t>Vos horaires réels ne sont pas dans l'export.</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tiquette-67"/>
          <p:cNvSpPr txBox="1"/>
          <p:nvPr/>
        </p:nvSpPr>
        <p:spPr>
          <a:xfrm>
            <a:off x="457200" y="292608"/>
            <a:ext cx="26517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POUR LE PROPRIÉTAIRE · 3/5</a:t>
            </a:r>
            <a:endParaRPr lang="en-US" sz="1000" dirty="0"/>
          </a:p>
        </p:txBody>
      </p:sp>
      <p:sp>
        <p:nvSpPr>
          <p:cNvPr id="3" name="Text 0"/>
          <p:cNvSpPr/>
          <p:nvPr>
            <p:ph idx="100" type="title" hasCustomPrompt="1"/>
          </p:nvPr>
        </p:nvSpPr>
        <p:spPr>
          <a:xfrm>
            <a:off x="457200" y="685800"/>
            <a:ext cx="8229600" cy="822960"/>
          </a:xfrm>
          <a:prstGeom prst="rect">
            <a:avLst/>
          </a:prstGeom>
          <a:noFill/>
          <a:ln/>
        </p:spPr>
        <p:txBody>
          <a:bodyPr wrap="square" lIns="0" tIns="0" rIns="0" bIns="0" rtlCol="0" anchor="t"/>
          <a:lstStyle/>
          <a:p>
            <a:pPr algn="l" indent="0" marL="0">
              <a:buNone/>
            </a:pPr>
            <a:r>
              <a:rPr lang="en-US" sz="2800" b="1" dirty="0">
                <a:solidFill>
                  <a:schemeClr val="tx2"/>
                </a:solidFill>
              </a:rPr>
              <a:t>L'hiver et la grippe expliquent une partie de vos ventes</a:t>
            </a:r>
            <a:endParaRPr lang="en-US" sz="2800" dirty="0"/>
          </a:p>
        </p:txBody>
      </p:sp>
      <p:graphicFrame>
        <p:nvGraphicFramePr>
          <p:cNvPr id="5" name="graphique-68" descr=""/>
          <p:cNvGraphicFramePr/>
          <p:nvPr/>
        </p:nvGraphicFramePr>
        <p:xfrm>
          <a:off x="457200" y="1600200"/>
          <a:ext cx="5212080" cy="2971800"/>
        </p:xfrm>
        <a:graphic xmlns:a="http://schemas.openxmlformats.org/drawingml/2006/main">
          <a:graphicData uri="http://schemas.openxmlformats.org/drawingml/2006/chart">
            <c:chart xmlns:c="http://schemas.openxmlformats.org/drawingml/2006/chart" r:id="rId1"/>
          </a:graphicData>
        </a:graphic>
      </p:graphicFrame>
      <p:sp>
        <p:nvSpPr>
          <p:cNvPr id="6" name="points-69"/>
          <p:cNvSpPr txBox="1"/>
          <p:nvPr/>
        </p:nvSpPr>
        <p:spPr>
          <a:xfrm>
            <a:off x="5943600" y="1645920"/>
            <a:ext cx="2743200" cy="2926080"/>
          </a:xfrm>
          <a:prstGeom prst="rect">
            <a:avLst/>
          </a:prstGeom>
          <a:noFill/>
          <a:ln/>
        </p:spPr>
        <p:txBody>
          <a:bodyPr wrap="square" lIns="0" tIns="0" rIns="0" bIns="0" rtlCol="0" anchor="t"/>
          <a:lstStyle/>
          <a:p>
            <a:pPr indent="0" marL="0">
              <a:buNone/>
            </a:pPr>
            <a:r>
              <a:rPr lang="en-US" sz="1500" b="1" dirty="0">
                <a:solidFill>
                  <a:schemeClr val="tx2"/>
                </a:solidFill>
              </a:rPr>
              <a:t>Dépend de l'environnement</a:t>
            </a:r>
            <a:endParaRPr lang="en-US" sz="1500" dirty="0"/>
          </a:p>
          <a:p>
            <a:pPr indent="0" marL="0">
              <a:spcAft>
                <a:spcPts val="1000"/>
              </a:spcAft>
              <a:buNone/>
            </a:pPr>
            <a:r>
              <a:rPr lang="en-US" sz="1400" dirty="0">
                <a:solidFill>
                  <a:schemeClr val="tx1"/>
                </a:solidFill>
              </a:rPr>
              <a:t>Paracétamol, antiasthmatiques, anti-inflammatoires propioniques, aspirine.</a:t>
            </a:r>
            <a:endParaRPr lang="en-US" sz="1500" dirty="0"/>
          </a:p>
          <a:p>
            <a:pPr indent="0" marL="0">
              <a:buNone/>
            </a:pPr>
            <a:r>
              <a:rPr lang="en-US" sz="1500" b="1" dirty="0">
                <a:solidFill>
                  <a:schemeClr val="tx2"/>
                </a:solidFill>
              </a:rPr>
              <a:t>Notre conseil</a:t>
            </a:r>
            <a:endParaRPr lang="en-US" sz="1500" dirty="0"/>
          </a:p>
          <a:p>
            <a:pPr indent="0" marL="0">
              <a:spcAft>
                <a:spcPts val="1000"/>
              </a:spcAft>
              <a:buNone/>
            </a:pPr>
            <a:r>
              <a:rPr lang="en-US" sz="1400" dirty="0">
                <a:solidFill>
                  <a:schemeClr val="tx1"/>
                </a:solidFill>
              </a:rPr>
              <a:t>Suivre le bulletin hebdomadaire Sentinelles et commander avant la hausse.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tiquette-70"/>
          <p:cNvSpPr txBox="1"/>
          <p:nvPr/>
        </p:nvSpPr>
        <p:spPr>
          <a:xfrm>
            <a:off x="457200" y="292608"/>
            <a:ext cx="26517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POUR LE PROPRIÉTAIRE · 4/5</a:t>
            </a:r>
            <a:endParaRPr lang="en-US" sz="1000" dirty="0"/>
          </a:p>
        </p:txBody>
      </p:sp>
      <p:sp>
        <p:nvSpPr>
          <p:cNvPr id="3" name="Text 0"/>
          <p:cNvSpPr/>
          <p:nvPr>
            <p:ph idx="100" type="title" hasCustomPrompt="1"/>
          </p:nvPr>
        </p:nvSpPr>
        <p:spPr>
          <a:xfrm>
            <a:off x="457200" y="685800"/>
            <a:ext cx="8229600" cy="822960"/>
          </a:xfrm>
          <a:prstGeom prst="rect">
            <a:avLst/>
          </a:prstGeom>
          <a:noFill/>
          <a:ln/>
        </p:spPr>
        <p:txBody>
          <a:bodyPr wrap="square" lIns="0" tIns="0" rIns="0" bIns="0" rtlCol="0" anchor="t"/>
          <a:lstStyle/>
          <a:p>
            <a:pPr algn="l" indent="0" marL="0">
              <a:buNone/>
            </a:pPr>
            <a:r>
              <a:rPr lang="en-US" sz="2800" b="1" dirty="0">
                <a:solidFill>
                  <a:schemeClr val="tx2"/>
                </a:solidFill>
              </a:rPr>
              <a:t>Offre du laboratoire : le danger est dans le détail</a:t>
            </a:r>
            <a:endParaRPr lang="en-US" sz="2800" dirty="0"/>
          </a:p>
        </p:txBody>
      </p:sp>
      <p:graphicFrame>
        <p:nvGraphicFramePr>
          <p:cNvPr id="5" name="graphique-71" descr=""/>
          <p:cNvGraphicFramePr/>
          <p:nvPr/>
        </p:nvGraphicFramePr>
        <p:xfrm>
          <a:off x="457200" y="1600200"/>
          <a:ext cx="5394960" cy="2971800"/>
        </p:xfrm>
        <a:graphic xmlns:a="http://schemas.openxmlformats.org/drawingml/2006/main">
          <a:graphicData uri="http://schemas.openxmlformats.org/drawingml/2006/chart">
            <c:chart xmlns:c="http://schemas.openxmlformats.org/drawingml/2006/chart" r:id="rId1"/>
          </a:graphicData>
        </a:graphic>
      </p:graphicFrame>
      <p:sp>
        <p:nvSpPr>
          <p:cNvPr id="6" name="points-72"/>
          <p:cNvSpPr txBox="1"/>
          <p:nvPr/>
        </p:nvSpPr>
        <p:spPr>
          <a:xfrm>
            <a:off x="6172200" y="1645920"/>
            <a:ext cx="2514600" cy="2926080"/>
          </a:xfrm>
          <a:prstGeom prst="rect">
            <a:avLst/>
          </a:prstGeom>
          <a:noFill/>
          <a:ln/>
        </p:spPr>
        <p:txBody>
          <a:bodyPr wrap="square" lIns="0" tIns="0" rIns="0" bIns="0" rtlCol="0" anchor="t"/>
          <a:lstStyle/>
          <a:p>
            <a:pPr indent="0" marL="0">
              <a:buNone/>
            </a:pPr>
            <a:r>
              <a:rPr lang="en-US" sz="1500" b="1" dirty="0">
                <a:solidFill>
                  <a:schemeClr val="tx2"/>
                </a:solidFill>
              </a:rPr>
              <a:t>À l'heure</a:t>
            </a:r>
            <a:endParaRPr lang="en-US" sz="1500" dirty="0"/>
          </a:p>
          <a:p>
            <a:pPr indent="0" marL="0">
              <a:spcAft>
                <a:spcPts val="1000"/>
              </a:spcAft>
              <a:buNone/>
            </a:pPr>
            <a:r>
              <a:rPr lang="en-US" sz="1400" dirty="0">
                <a:solidFill>
                  <a:schemeClr val="tx1"/>
                </a:solidFill>
              </a:rPr>
              <a:t>Plus de 8 ventes sur 10 sont isolées : un achat peut être deviné.</a:t>
            </a:r>
            <a:endParaRPr lang="en-US" sz="1500" dirty="0"/>
          </a:p>
          <a:p>
            <a:pPr indent="0" marL="0">
              <a:buNone/>
            </a:pPr>
            <a:r>
              <a:rPr lang="en-US" sz="1500" b="1" dirty="0">
                <a:solidFill>
                  <a:schemeClr val="tx2"/>
                </a:solidFill>
              </a:rPr>
              <a:t>Au mois</a:t>
            </a:r>
            <a:endParaRPr lang="en-US" sz="1500" dirty="0"/>
          </a:p>
          <a:p>
            <a:pPr indent="0" marL="0">
              <a:spcAft>
                <a:spcPts val="1000"/>
              </a:spcAft>
              <a:buNone/>
            </a:pPr>
            <a:r>
              <a:rPr lang="en-US" sz="1400" dirty="0">
                <a:solidFill>
                  <a:schemeClr val="tx1"/>
                </a:solidFill>
              </a:rPr>
              <a:t>Aucune vente isolée : le risque devient faible.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tiquette-73"/>
          <p:cNvSpPr txBox="1"/>
          <p:nvPr/>
        </p:nvSpPr>
        <p:spPr>
          <a:xfrm>
            <a:off x="457200" y="292608"/>
            <a:ext cx="26517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POUR LE PROPRIÉTAIRE · 5/5</a:t>
            </a:r>
            <a:endParaRPr lang="en-US" sz="1000" dirty="0"/>
          </a:p>
        </p:txBody>
      </p:sp>
      <p:sp>
        <p:nvSpPr>
          <p:cNvPr id="3" name="Text 0"/>
          <p:cNvSpPr/>
          <p:nvPr>
            <p:ph idx="100" type="title" hasCustomPrompt="1"/>
          </p:nvPr>
        </p:nvSpPr>
        <p:spPr>
          <a:xfrm>
            <a:off x="457200" y="685800"/>
            <a:ext cx="8229600" cy="822960"/>
          </a:xfrm>
          <a:prstGeom prst="rect">
            <a:avLst/>
          </a:prstGeom>
          <a:noFill/>
          <a:ln/>
        </p:spPr>
        <p:txBody>
          <a:bodyPr wrap="square" lIns="0" tIns="0" rIns="0" bIns="0" rtlCol="0" anchor="t"/>
          <a:lstStyle/>
          <a:p>
            <a:pPr algn="l" indent="0" marL="0">
              <a:buNone/>
            </a:pPr>
            <a:r>
              <a:rPr lang="en-US" sz="2800" b="1" dirty="0">
                <a:solidFill>
                  <a:schemeClr val="tx2"/>
                </a:solidFill>
              </a:rPr>
              <a:t>Notre conseil : un partage limité et encadré</a:t>
            </a:r>
            <a:endParaRPr lang="en-US" sz="2800" dirty="0"/>
          </a:p>
        </p:txBody>
      </p:sp>
      <p:sp>
        <p:nvSpPr>
          <p:cNvPr id="5" name="pastille-74"/>
          <p:cNvSpPr txBox="1"/>
          <p:nvPr/>
        </p:nvSpPr>
        <p:spPr>
          <a:xfrm>
            <a:off x="457200" y="1691640"/>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etape-75"/>
          <p:cNvSpPr txBox="1"/>
          <p:nvPr/>
        </p:nvSpPr>
        <p:spPr>
          <a:xfrm>
            <a:off x="1097280" y="1645920"/>
            <a:ext cx="7589520" cy="548640"/>
          </a:xfrm>
          <a:prstGeom prst="rect">
            <a:avLst/>
          </a:prstGeom>
          <a:noFill/>
          <a:ln/>
        </p:spPr>
        <p:txBody>
          <a:bodyPr wrap="square" lIns="0" tIns="0" rIns="0" bIns="0" rtlCol="0" anchor="ctr"/>
          <a:lstStyle/>
          <a:p>
            <a:pPr indent="0" marL="0">
              <a:buNone/>
            </a:pPr>
            <a:r>
              <a:rPr lang="en-US" sz="1600" b="1" dirty="0">
                <a:solidFill>
                  <a:schemeClr val="tx2"/>
                </a:solidFill>
              </a:rPr>
              <a:t>Refuser l'export complet  </a:t>
            </a:r>
            <a:pPr indent="0" marL="0">
              <a:buNone/>
            </a:pPr>
            <a:r>
              <a:rPr lang="en-US" sz="1400" dirty="0">
                <a:solidFill>
                  <a:schemeClr val="tx1"/>
                </a:solidFill>
              </a:rPr>
              <a:t>Les fichiers par heure, par jour et par semaine restent à la pharmacie.</a:t>
            </a:r>
            <a:endParaRPr lang="en-US" sz="1600" dirty="0"/>
          </a:p>
        </p:txBody>
      </p:sp>
      <p:sp>
        <p:nvSpPr>
          <p:cNvPr id="7" name="pastille-76"/>
          <p:cNvSpPr txBox="1"/>
          <p:nvPr/>
        </p:nvSpPr>
        <p:spPr>
          <a:xfrm>
            <a:off x="457200" y="2441448"/>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etape-77"/>
          <p:cNvSpPr txBox="1"/>
          <p:nvPr/>
        </p:nvSpPr>
        <p:spPr>
          <a:xfrm>
            <a:off x="1097280" y="2395728"/>
            <a:ext cx="7589520" cy="548640"/>
          </a:xfrm>
          <a:prstGeom prst="rect">
            <a:avLst/>
          </a:prstGeom>
          <a:noFill/>
          <a:ln/>
        </p:spPr>
        <p:txBody>
          <a:bodyPr wrap="square" lIns="0" tIns="0" rIns="0" bIns="0" rtlCol="0" anchor="ctr"/>
          <a:lstStyle/>
          <a:p>
            <a:pPr indent="0" marL="0">
              <a:buNone/>
            </a:pPr>
            <a:r>
              <a:rPr lang="en-US" sz="1600" b="1" dirty="0">
                <a:solidFill>
                  <a:schemeClr val="tx2"/>
                </a:solidFill>
              </a:rPr>
              <a:t>Proposer un fichier mensuel  </a:t>
            </a:r>
            <a:pPr indent="0" marL="0">
              <a:buNone/>
            </a:pPr>
            <a:r>
              <a:rPr lang="en-US" sz="1400" dirty="0">
                <a:solidFill>
                  <a:schemeClr val="tx1"/>
                </a:solidFill>
              </a:rPr>
              <a:t>Par trimestre pour les somnifères, aucune valeur sous 10 unités.</a:t>
            </a:r>
            <a:endParaRPr lang="en-US" sz="1600" dirty="0"/>
          </a:p>
        </p:txBody>
      </p:sp>
      <p:sp>
        <p:nvSpPr>
          <p:cNvPr id="9" name="pastille-78"/>
          <p:cNvSpPr txBox="1"/>
          <p:nvPr/>
        </p:nvSpPr>
        <p:spPr>
          <a:xfrm>
            <a:off x="457200" y="3191256"/>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0" name="etape-79"/>
          <p:cNvSpPr txBox="1"/>
          <p:nvPr/>
        </p:nvSpPr>
        <p:spPr>
          <a:xfrm>
            <a:off x="1097280" y="3145536"/>
            <a:ext cx="7589520" cy="548640"/>
          </a:xfrm>
          <a:prstGeom prst="rect">
            <a:avLst/>
          </a:prstGeom>
          <a:noFill/>
          <a:ln/>
        </p:spPr>
        <p:txBody>
          <a:bodyPr wrap="square" lIns="0" tIns="0" rIns="0" bIns="0" rtlCol="0" anchor="ctr"/>
          <a:lstStyle/>
          <a:p>
            <a:pPr indent="0" marL="0">
              <a:buNone/>
            </a:pPr>
            <a:r>
              <a:rPr lang="en-US" sz="1600" b="1" dirty="0">
                <a:solidFill>
                  <a:schemeClr val="tx2"/>
                </a:solidFill>
              </a:rPr>
              <a:t>Signer un contrat écrit  </a:t>
            </a:r>
            <a:pPr indent="0" marL="0">
              <a:buNone/>
            </a:pPr>
            <a:r>
              <a:rPr lang="en-US" sz="1400" dirty="0">
                <a:solidFill>
                  <a:schemeClr val="tx1"/>
                </a:solidFill>
              </a:rPr>
              <a:t>Usage limité, pas de revente, durée fixée, destruction à la fin.</a:t>
            </a:r>
            <a:endParaRPr lang="en-US" sz="1600" dirty="0"/>
          </a:p>
        </p:txBody>
      </p:sp>
      <p:sp>
        <p:nvSpPr>
          <p:cNvPr id="11" name="pastille-80"/>
          <p:cNvSpPr txBox="1"/>
          <p:nvPr/>
        </p:nvSpPr>
        <p:spPr>
          <a:xfrm>
            <a:off x="457200" y="3941064"/>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2" name="etape-81"/>
          <p:cNvSpPr txBox="1"/>
          <p:nvPr/>
        </p:nvSpPr>
        <p:spPr>
          <a:xfrm>
            <a:off x="1097280" y="3895344"/>
            <a:ext cx="7589520" cy="548640"/>
          </a:xfrm>
          <a:prstGeom prst="rect">
            <a:avLst/>
          </a:prstGeom>
          <a:noFill/>
          <a:ln/>
        </p:spPr>
        <p:txBody>
          <a:bodyPr wrap="square" lIns="0" tIns="0" rIns="0" bIns="0" rtlCol="0" anchor="ctr"/>
          <a:lstStyle/>
          <a:p>
            <a:pPr indent="0" marL="0">
              <a:buNone/>
            </a:pPr>
            <a:r>
              <a:rPr lang="en-US" sz="1600" b="1" dirty="0">
                <a:solidFill>
                  <a:schemeClr val="tx2"/>
                </a:solidFill>
              </a:rPr>
              <a:t>Faire valider avant de signer  </a:t>
            </a:r>
            <a:pPr indent="0" marL="0">
              <a:buNone/>
            </a:pPr>
            <a:r>
              <a:rPr lang="en-US" sz="1400" dirty="0">
                <a:solidFill>
                  <a:schemeClr val="tx1"/>
                </a:solidFill>
              </a:rPr>
              <a:t>Ordre des pharmaciens ou juriste : secret, indépendance, règle anti-cadeaux.</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Pharmacie">
  <a:themeElements>
    <a:clrScheme name="Pharmacie">
      <a:dk1>
        <a:srgbClr val="1B2A2F"/>
      </a:dk1>
      <a:lt1>
        <a:srgbClr val="FFFFFF"/>
      </a:lt1>
      <a:dk2>
        <a:srgbClr val="0B5D4E"/>
      </a:dk2>
      <a:lt2>
        <a:srgbClr val="EAF4F0"/>
      </a:lt2>
      <a:accent1>
        <a:srgbClr val="0B5D4E"/>
      </a:accent1>
      <a:accent2>
        <a:srgbClr val="2FA58A"/>
      </a:accent2>
      <a:accent3>
        <a:srgbClr val="E8704A"/>
      </a:accent3>
      <a:accent4>
        <a:srgbClr val="A9BCB6"/>
      </a:accent4>
      <a:accent5>
        <a:srgbClr val="F2B84B"/>
      </a:accent5>
      <a:accent6>
        <a:srgbClr val="5B7C99"/>
      </a:accent6>
      <a:hlink>
        <a:srgbClr val="0B5D4E"/>
      </a:hlink>
      <a:folHlink>
        <a:srgbClr val="5B7C99"/>
      </a:folHlink>
    </a:clrScheme>
    <a:fontScheme name="Pharmaci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des ventes de la pharmacie</dc:title>
  <dc:subject>PptxGenJS Presentation</dc:subject>
  <dc:creator>Esteban, Léa, Lilie Domingues</dc:creator>
  <cp:lastModifiedBy>Esteban, Léa, Lilie Domingues</cp:lastModifiedBy>
  <cp:revision>1</cp:revision>
  <dcterms:created xsi:type="dcterms:W3CDTF">2026-10-12T12:12:41Z</dcterms:created>
  <dcterms:modified xsi:type="dcterms:W3CDTF">2026-10-12T12:12:41Z</dcterms:modified>
</cp:coreProperties>
</file>